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72" r:id="rId8"/>
    <p:sldId id="273" r:id="rId9"/>
    <p:sldId id="274" r:id="rId10"/>
    <p:sldId id="262" r:id="rId11"/>
    <p:sldId id="263" r:id="rId12"/>
    <p:sldId id="264" r:id="rId13"/>
    <p:sldId id="265" r:id="rId14"/>
    <p:sldId id="276" r:id="rId15"/>
    <p:sldId id="277" r:id="rId16"/>
    <p:sldId id="266" r:id="rId17"/>
    <p:sldId id="268" r:id="rId18"/>
    <p:sldId id="275" r:id="rId19"/>
    <p:sldId id="269" r:id="rId20"/>
    <p:sldId id="270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10" autoAdjust="0"/>
    <p:restoredTop sz="94610"/>
  </p:normalViewPr>
  <p:slideViewPr>
    <p:cSldViewPr snapToGrid="0" snapToObjects="1">
      <p:cViewPr varScale="1">
        <p:scale>
          <a:sx n="128" d="100"/>
          <a:sy n="128" d="100"/>
        </p:scale>
        <p:origin x="115" y="4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7625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A95A1-0D3F-E75E-1787-6C1ABA8B8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780F31-9D8B-E97B-1A9D-016C693F1A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4E52CA-9252-DB50-B5A9-02A350888E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30A8CF-095E-9AC3-5AF3-274A911303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3671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635DE-455C-9F6C-4A1A-4096877AD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F5005F-55E7-2DDB-ED05-1415478EED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575FB7-66EE-4534-5A7D-20AB1C3581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30458-B583-C4E4-B4E8-B0CB3D98F6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8933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6A1F9-30C6-4643-79A8-89BA61A6F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D1E1E4-C000-8250-3360-7731185D7B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E7FF8C-E108-5359-511E-503F12646D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CE1E4E-4A4D-A5B9-1DED-3727F97402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593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B1E39-F7F0-F82C-F309-885629B65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7986EF-4D94-0311-2872-56B9C5BD43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DE3EC3-1E7A-8E36-71AE-83BB02236D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E0E734-481C-0C95-079C-D8C6BBC76F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4435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363FF-C3EE-9A28-F659-8267612A6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833A40-7548-0D05-0EF8-CC1B429932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C884E2-53CE-D324-7633-FAA7A733D0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D3F1CC-8A76-D7BA-CCFC-986FD5909A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9195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78B61-8F1C-1682-6E8C-33DBA1092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A90CFC-2067-EF22-81A6-A26B6EABBC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BE3CCA-CE51-CB01-96F8-89A58208DD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550670-5A37-A8FF-F3D9-0B9E214D76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0166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1097280"/>
            <a:ext cx="3200400" cy="3200400"/>
          </a:xfrm>
          <a:prstGeom prst="ellipse">
            <a:avLst/>
          </a:prstGeom>
          <a:solidFill>
            <a:srgbClr val="0A9396">
              <a:alpha val="25000"/>
            </a:srgbClr>
          </a:solidFill>
          <a:ln w="12700">
            <a:solidFill>
              <a:srgbClr val="0A9396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" name="Shape 1"/>
          <p:cNvSpPr/>
          <p:nvPr/>
        </p:nvSpPr>
        <p:spPr>
          <a:xfrm>
            <a:off x="7772400" y="-457200"/>
            <a:ext cx="2011680" cy="2011680"/>
          </a:xfrm>
          <a:prstGeom prst="ellipse">
            <a:avLst/>
          </a:prstGeom>
          <a:solidFill>
            <a:srgbClr val="EE9B00">
              <a:alpha val="20000"/>
            </a:srgbClr>
          </a:solidFill>
          <a:ln w="12700">
            <a:solidFill>
              <a:srgbClr val="EE9B0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4" name="Shape 2"/>
          <p:cNvSpPr/>
          <p:nvPr/>
        </p:nvSpPr>
        <p:spPr>
          <a:xfrm>
            <a:off x="-457200" y="3657600"/>
            <a:ext cx="2286000" cy="2286000"/>
          </a:xfrm>
          <a:prstGeom prst="ellipse">
            <a:avLst/>
          </a:prstGeom>
          <a:solidFill>
            <a:srgbClr val="0A9396">
              <a:alpha val="15000"/>
            </a:srgbClr>
          </a:solidFill>
          <a:ln w="12700">
            <a:solidFill>
              <a:srgbClr val="0A9396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822960"/>
            <a:ext cx="658368" cy="6583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44475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Price Prediction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457200" y="217627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Deep Learning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457200" y="2898648"/>
            <a:ext cx="2011680" cy="50292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9" name="Text 6"/>
          <p:cNvSpPr/>
          <p:nvPr/>
        </p:nvSpPr>
        <p:spPr>
          <a:xfrm>
            <a:off x="457200" y="3035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CSE 433  —  Emerging Topics in CS &amp; Engineering: Deep Learning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340156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to:  Assoc. Prof. Dr. Mohammed Kamal Abdel Salam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7200" y="38404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Jana Elsalhy  ·  120220093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18795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Shiref Ashraf  ·  120220099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453542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 Nagah  ·  120220116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754880" y="38404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Tasbih Othman  ·  120220117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754880" y="418795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Karim Mazroua  ·  120220118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754880" y="453542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Yasmeen Sameh  ·  120220143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E-JUST  |  May 13,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402336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64008" cy="146304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7360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474720" y="13258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207008" y="141732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207008" y="1856232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problem, objectives &amp; who benefits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880360"/>
            <a:ext cx="402336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0" name="Shape 7"/>
          <p:cNvSpPr/>
          <p:nvPr/>
        </p:nvSpPr>
        <p:spPr>
          <a:xfrm>
            <a:off x="457200" y="2880360"/>
            <a:ext cx="64008" cy="146304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383280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74720" y="29718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1207008" y="30632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Solution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1207008" y="3502152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Dataset, preprocessing, model &amp; web app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754880" y="1234440"/>
            <a:ext cx="402336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6" name="Shape 12"/>
          <p:cNvSpPr/>
          <p:nvPr/>
        </p:nvSpPr>
        <p:spPr>
          <a:xfrm>
            <a:off x="4754880" y="1234440"/>
            <a:ext cx="64008" cy="146304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1737360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772400" y="13258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/>
          </a:p>
        </p:txBody>
      </p:sp>
      <p:sp>
        <p:nvSpPr>
          <p:cNvPr id="19" name="Text 14"/>
          <p:cNvSpPr/>
          <p:nvPr/>
        </p:nvSpPr>
        <p:spPr>
          <a:xfrm>
            <a:off x="5504688" y="141732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5504688" y="1856232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metrics, feature importance &amp; error analysis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754880" y="2880360"/>
            <a:ext cx="402336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22" name="Shape 17"/>
          <p:cNvSpPr/>
          <p:nvPr/>
        </p:nvSpPr>
        <p:spPr>
          <a:xfrm>
            <a:off x="4754880" y="2880360"/>
            <a:ext cx="64008" cy="146304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383280"/>
            <a:ext cx="384048" cy="38404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772400" y="29718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400" dirty="0"/>
          </a:p>
        </p:txBody>
      </p:sp>
      <p:sp>
        <p:nvSpPr>
          <p:cNvPr id="25" name="Text 19"/>
          <p:cNvSpPr/>
          <p:nvPr/>
        </p:nvSpPr>
        <p:spPr>
          <a:xfrm>
            <a:off x="5504688" y="30632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5504688" y="3502152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Limitations, future improvements &amp; conclusion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used car pricing so difficult?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840480" cy="338328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627632"/>
            <a:ext cx="594360" cy="594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1488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Car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Challenge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914400" y="2944368"/>
            <a:ext cx="2926080" cy="4572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8" name="Text 5"/>
          <p:cNvSpPr/>
          <p:nvPr/>
        </p:nvSpPr>
        <p:spPr>
          <a:xfrm>
            <a:off x="594360" y="30632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pricing depends on many interconnected variables, making manual estimation difficult and inconsistent.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" y="4005072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Incorrect pricing leads to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loss for both buyers &amp; sellers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617720" y="1417320"/>
            <a:ext cx="4069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1" name="Shape 8"/>
          <p:cNvSpPr/>
          <p:nvPr/>
        </p:nvSpPr>
        <p:spPr>
          <a:xfrm>
            <a:off x="4617720" y="1417320"/>
            <a:ext cx="64008" cy="1005840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2" name="Text 9"/>
          <p:cNvSpPr/>
          <p:nvPr/>
        </p:nvSpPr>
        <p:spPr>
          <a:xfrm>
            <a:off x="4800600" y="1508760"/>
            <a:ext cx="3767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Asymmetry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800600" y="1847088"/>
            <a:ext cx="3767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can't tell if a listed price is fair; sellers lack benchmarks to price competitively.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617720" y="2560320"/>
            <a:ext cx="4069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5" name="Shape 12"/>
          <p:cNvSpPr/>
          <p:nvPr/>
        </p:nvSpPr>
        <p:spPr>
          <a:xfrm>
            <a:off x="4617720" y="2560320"/>
            <a:ext cx="64008" cy="1005840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6" name="Text 13"/>
          <p:cNvSpPr/>
          <p:nvPr/>
        </p:nvSpPr>
        <p:spPr>
          <a:xfrm>
            <a:off x="4800600" y="2651760"/>
            <a:ext cx="3767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Variables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800600" y="2990088"/>
            <a:ext cx="3767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mileage, brand, fuel type, ownership history — humans cannot process them simultaneously.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617720" y="3703320"/>
            <a:ext cx="4069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9" name="Shape 16"/>
          <p:cNvSpPr/>
          <p:nvPr/>
        </p:nvSpPr>
        <p:spPr>
          <a:xfrm>
            <a:off x="4617720" y="3703320"/>
            <a:ext cx="64008" cy="1005840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0" name="Text 17"/>
          <p:cNvSpPr/>
          <p:nvPr/>
        </p:nvSpPr>
        <p:spPr>
          <a:xfrm>
            <a:off x="4800600" y="3794760"/>
            <a:ext cx="3767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Methods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800600" y="4133088"/>
            <a:ext cx="3767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pricing relies on manual estimates, historical averages, or subjective judgment.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 delivers impact across the entire used-car ecosystem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2606040" cy="3337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2606040" cy="658368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6192" y="1554480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22128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Buyers</a:t>
            </a:r>
            <a:endParaRPr lang="en-US" sz="13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2743200"/>
            <a:ext cx="246888" cy="24688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50976" y="271576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Instantly verify if an asking price is fair</a:t>
            </a:r>
            <a:endParaRPr lang="en-US" sz="11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3383280"/>
            <a:ext cx="246888" cy="24688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50976" y="335584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against model predictions before purchase</a:t>
            </a:r>
            <a:endParaRPr lang="en-US" sz="11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4023360"/>
            <a:ext cx="246888" cy="24688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50976" y="399592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confident, data-backed decisions</a:t>
            </a:r>
            <a:endParaRPr lang="en-US" sz="1100" dirty="0"/>
          </a:p>
        </p:txBody>
      </p:sp>
      <p:sp>
        <p:nvSpPr>
          <p:cNvPr id="14" name="Shape 8"/>
          <p:cNvSpPr/>
          <p:nvPr/>
        </p:nvSpPr>
        <p:spPr>
          <a:xfrm>
            <a:off x="3291840" y="1481328"/>
            <a:ext cx="2606040" cy="3337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5" name="Shape 9"/>
          <p:cNvSpPr/>
          <p:nvPr/>
        </p:nvSpPr>
        <p:spPr>
          <a:xfrm>
            <a:off x="3291840" y="1481328"/>
            <a:ext cx="260604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0832" y="1554480"/>
            <a:ext cx="438912" cy="43891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3401568" y="22128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Sellers &amp; Dealerships</a:t>
            </a:r>
            <a:endParaRPr lang="en-US" sz="13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432" y="2743200"/>
            <a:ext cx="246888" cy="24688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3785616" y="271576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vehicles competitively from day one</a:t>
            </a:r>
            <a:endParaRPr lang="en-US" sz="110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432" y="3383280"/>
            <a:ext cx="246888" cy="246888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3785616" y="335584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time-on-lot with accurate listings</a:t>
            </a:r>
            <a:endParaRPr lang="en-US" sz="1100" dirty="0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432" y="4023360"/>
            <a:ext cx="246888" cy="246888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3785616" y="399592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Maximise profit with market-aligned pricing</a:t>
            </a:r>
            <a:endParaRPr lang="en-US" sz="1100" dirty="0"/>
          </a:p>
        </p:txBody>
      </p:sp>
      <p:sp>
        <p:nvSpPr>
          <p:cNvPr id="24" name="Shape 14"/>
          <p:cNvSpPr/>
          <p:nvPr/>
        </p:nvSpPr>
        <p:spPr>
          <a:xfrm>
            <a:off x="6126480" y="1481328"/>
            <a:ext cx="2606040" cy="3337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25" name="Shape 15"/>
          <p:cNvSpPr/>
          <p:nvPr/>
        </p:nvSpPr>
        <p:spPr>
          <a:xfrm>
            <a:off x="6126480" y="1481328"/>
            <a:ext cx="2606040" cy="658368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6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5472" y="1554480"/>
            <a:ext cx="438912" cy="438912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6236208" y="22128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Automotive Platforms</a:t>
            </a:r>
            <a:endParaRPr lang="en-US" sz="1300" dirty="0"/>
          </a:p>
        </p:txBody>
      </p:sp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2743200"/>
            <a:ext cx="246888" cy="246888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6620256" y="271576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into online car-selling platforms</a:t>
            </a:r>
            <a:endParaRPr lang="en-US" sz="1100" dirty="0"/>
          </a:p>
        </p:txBody>
      </p:sp>
      <p:pic>
        <p:nvPicPr>
          <p:cNvPr id="30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3383280"/>
            <a:ext cx="246888" cy="246888"/>
          </a:xfrm>
          <a:prstGeom prst="rect">
            <a:avLst/>
          </a:prstGeom>
        </p:spPr>
      </p:pic>
      <p:sp>
        <p:nvSpPr>
          <p:cNvPr id="31" name="Text 18"/>
          <p:cNvSpPr/>
          <p:nvPr/>
        </p:nvSpPr>
        <p:spPr>
          <a:xfrm>
            <a:off x="6620256" y="335584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dealership inventory pricing systems</a:t>
            </a:r>
            <a:endParaRPr lang="en-US" sz="1100" dirty="0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4023360"/>
            <a:ext cx="246888" cy="246888"/>
          </a:xfrm>
          <a:prstGeom prst="rect">
            <a:avLst/>
          </a:prstGeom>
        </p:spPr>
      </p:pic>
      <p:sp>
        <p:nvSpPr>
          <p:cNvPr id="33" name="Text 19"/>
          <p:cNvSpPr/>
          <p:nvPr/>
        </p:nvSpPr>
        <p:spPr>
          <a:xfrm>
            <a:off x="6620256" y="399592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insurance &amp; financing valuation</a:t>
            </a:r>
            <a:endParaRPr lang="en-US" sz="1100" dirty="0"/>
          </a:p>
        </p:txBody>
      </p:sp>
      <p:sp>
        <p:nvSpPr>
          <p:cNvPr id="34" name="Shape 20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5" name="Text 2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Objectives:   Develop an intelligent system  ·  Analyze pricing factors  ·  Build a complete DL pipeline  ·  Scalable for real-world integration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2743200"/>
            <a:ext cx="4114800" cy="4114800"/>
          </a:xfrm>
          <a:prstGeom prst="ellipse">
            <a:avLst/>
          </a:prstGeom>
          <a:solidFill>
            <a:srgbClr val="0A9396">
              <a:alpha val="18000"/>
            </a:srgbClr>
          </a:solidFill>
          <a:ln w="12700">
            <a:solidFill>
              <a:srgbClr val="0A9396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" name="Shape 1"/>
          <p:cNvSpPr/>
          <p:nvPr/>
        </p:nvSpPr>
        <p:spPr>
          <a:xfrm>
            <a:off x="6858000" y="-914400"/>
            <a:ext cx="3200400" cy="3200400"/>
          </a:xfrm>
          <a:prstGeom prst="ellipse">
            <a:avLst/>
          </a:prstGeom>
          <a:solidFill>
            <a:srgbClr val="EE9B00">
              <a:alpha val="20000"/>
            </a:srgbClr>
          </a:solidFill>
          <a:ln w="12700">
            <a:solidFill>
              <a:srgbClr val="EE9B0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365760"/>
            <a:ext cx="1645920" cy="1645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000" b="1" dirty="0">
                <a:solidFill>
                  <a:srgbClr val="1A3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457200" y="2240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Solution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3200400" y="3154680"/>
            <a:ext cx="2743200" cy="54864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8" name="Text 5"/>
          <p:cNvSpPr/>
          <p:nvPr/>
        </p:nvSpPr>
        <p:spPr>
          <a:xfrm>
            <a:off x="457200" y="3337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 ·  Preprocessing  ·  Model Architecture  ·  Web App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Feature Engineering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~3,000 used car records with structured numerical and categorical features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5029200" cy="43891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874520" y="105156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971800" y="1051560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490472"/>
            <a:ext cx="5029200" cy="347472"/>
          </a:xfrm>
          <a:prstGeom prst="rect">
            <a:avLst/>
          </a:prstGeom>
          <a:solidFill>
            <a:srgbClr val="F0F4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9" name="Text 7"/>
          <p:cNvSpPr/>
          <p:nvPr/>
        </p:nvSpPr>
        <p:spPr>
          <a:xfrm>
            <a:off x="502920" y="1490472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874520" y="1490472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71800" y="149047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manufacturer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837944"/>
            <a:ext cx="502920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3" name="Text 11"/>
          <p:cNvSpPr/>
          <p:nvPr/>
        </p:nvSpPr>
        <p:spPr>
          <a:xfrm>
            <a:off x="502920" y="1837944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874520" y="1837944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971800" y="183794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model (target encoded)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185416"/>
            <a:ext cx="5029200" cy="347472"/>
          </a:xfrm>
          <a:prstGeom prst="rect">
            <a:avLst/>
          </a:prstGeom>
          <a:solidFill>
            <a:srgbClr val="F0F4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7" name="Text 15"/>
          <p:cNvSpPr/>
          <p:nvPr/>
        </p:nvSpPr>
        <p:spPr>
          <a:xfrm>
            <a:off x="502920" y="2185416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74520" y="2185416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971800" y="218541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year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532888"/>
            <a:ext cx="502920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1" name="Text 19"/>
          <p:cNvSpPr/>
          <p:nvPr/>
        </p:nvSpPr>
        <p:spPr>
          <a:xfrm>
            <a:off x="502920" y="2532888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Engine_CC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874520" y="2532888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71800" y="25328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displacement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2880360"/>
            <a:ext cx="5029200" cy="347472"/>
          </a:xfrm>
          <a:prstGeom prst="rect">
            <a:avLst/>
          </a:prstGeom>
          <a:solidFill>
            <a:srgbClr val="F0F4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5" name="Text 23"/>
          <p:cNvSpPr/>
          <p:nvPr/>
        </p:nvSpPr>
        <p:spPr>
          <a:xfrm>
            <a:off x="502920" y="2880360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Power_BHP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874520" y="2880360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971800" y="28803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power output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227832"/>
            <a:ext cx="502920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9" name="Text 27"/>
          <p:cNvSpPr/>
          <p:nvPr/>
        </p:nvSpPr>
        <p:spPr>
          <a:xfrm>
            <a:off x="502920" y="3227832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Fuel_Type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874520" y="3227832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971800" y="32278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type (one-hot)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3575304"/>
            <a:ext cx="5029200" cy="347472"/>
          </a:xfrm>
          <a:prstGeom prst="rect">
            <a:avLst/>
          </a:prstGeom>
          <a:solidFill>
            <a:srgbClr val="F0F4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3" name="Text 31"/>
          <p:cNvSpPr/>
          <p:nvPr/>
        </p:nvSpPr>
        <p:spPr>
          <a:xfrm>
            <a:off x="502920" y="3575304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874520" y="3575304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971800" y="357530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 type (one-hot)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3922776"/>
            <a:ext cx="502920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7" name="Text 35"/>
          <p:cNvSpPr/>
          <p:nvPr/>
        </p:nvSpPr>
        <p:spPr>
          <a:xfrm>
            <a:off x="502920" y="3922776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Owner_Type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1874520" y="3922776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Ordinal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971800" y="392277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previous owners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7200" y="4270248"/>
            <a:ext cx="5029200" cy="347472"/>
          </a:xfrm>
          <a:prstGeom prst="rect">
            <a:avLst/>
          </a:prstGeom>
          <a:solidFill>
            <a:srgbClr val="F0F4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41" name="Text 39"/>
          <p:cNvSpPr/>
          <p:nvPr/>
        </p:nvSpPr>
        <p:spPr>
          <a:xfrm>
            <a:off x="502920" y="4270248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KM_Driven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1874520" y="4270248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71800" y="427024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driven kilometers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57200" y="4617720"/>
            <a:ext cx="502920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45" name="Text 43"/>
          <p:cNvSpPr/>
          <p:nvPr/>
        </p:nvSpPr>
        <p:spPr>
          <a:xfrm>
            <a:off x="502920" y="4617720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Price_USD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1874520" y="4617720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71800" y="461772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vehicle selling price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715000" y="1051560"/>
            <a:ext cx="2971800" cy="43891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49" name="Text 47"/>
          <p:cNvSpPr/>
          <p:nvPr/>
        </p:nvSpPr>
        <p:spPr>
          <a:xfrm>
            <a:off x="5715000" y="1051560"/>
            <a:ext cx="2971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5715000" y="1490472"/>
            <a:ext cx="29718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51" name="Text 49"/>
          <p:cNvSpPr/>
          <p:nvPr/>
        </p:nvSpPr>
        <p:spPr>
          <a:xfrm>
            <a:off x="5852160" y="15819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Features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852160" y="190195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VehicleAge  =  2026 − Year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852160" y="217627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KM_per_Year  =  KM_Driven / (VehicleAge + 1)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5852160" y="24505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transformation on Price_USD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5715000" y="2999232"/>
            <a:ext cx="2971800" cy="438912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56" name="Text 54"/>
          <p:cNvSpPr/>
          <p:nvPr/>
        </p:nvSpPr>
        <p:spPr>
          <a:xfrm>
            <a:off x="5715000" y="2999232"/>
            <a:ext cx="2971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Encoding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5715000" y="3438144"/>
            <a:ext cx="297180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58" name="Text 56"/>
          <p:cNvSpPr/>
          <p:nvPr/>
        </p:nvSpPr>
        <p:spPr>
          <a:xfrm>
            <a:off x="5852160" y="352958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One-Hot Encoding: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5852160" y="373075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Brand, Fuel Type, Transmission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5852160" y="395935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Encoding: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852160" y="41605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(reduces dimensionality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preserving price signal)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852160" y="43891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Ordinal Encoding: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5852160" y="459028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Owner_Type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27AB3-2902-085B-E481-56B511E41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C3A3956-EEDC-2F8A-8E09-6E12B876E7B1}"/>
              </a:ext>
            </a:extLst>
          </p:cNvPr>
          <p:cNvSpPr/>
          <p:nvPr/>
        </p:nvSpPr>
        <p:spPr>
          <a:xfrm>
            <a:off x="244690" y="105145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Feature Engineering</a:t>
            </a:r>
            <a:endParaRPr lang="en-US" sz="3600" dirty="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07A271AD-AD22-CD92-69CB-320E989948B4}"/>
              </a:ext>
            </a:extLst>
          </p:cNvPr>
          <p:cNvSpPr/>
          <p:nvPr/>
        </p:nvSpPr>
        <p:spPr>
          <a:xfrm>
            <a:off x="5715000" y="1051560"/>
            <a:ext cx="2971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200" dirty="0"/>
          </a:p>
        </p:txBody>
      </p:sp>
      <p:sp>
        <p:nvSpPr>
          <p:cNvPr id="50" name="Shape 48">
            <a:extLst>
              <a:ext uri="{FF2B5EF4-FFF2-40B4-BE49-F238E27FC236}">
                <a16:creationId xmlns:a16="http://schemas.microsoft.com/office/drawing/2014/main" id="{434B1F33-B2A0-560F-8B9C-02DB1A83284A}"/>
              </a:ext>
            </a:extLst>
          </p:cNvPr>
          <p:cNvSpPr/>
          <p:nvPr/>
        </p:nvSpPr>
        <p:spPr>
          <a:xfrm>
            <a:off x="5715000" y="1490472"/>
            <a:ext cx="29718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16E26789-86A2-EC55-3619-1041F93491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99505"/>
            <a:ext cx="8017090" cy="441657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37CE88C-AEAB-C10A-484B-07F0663B6BC6}"/>
              </a:ext>
            </a:extLst>
          </p:cNvPr>
          <p:cNvSpPr/>
          <p:nvPr/>
        </p:nvSpPr>
        <p:spPr>
          <a:xfrm>
            <a:off x="5715000" y="3038622"/>
            <a:ext cx="2759290" cy="19997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284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22558-6BF6-2220-3DA4-507B37A47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32EEED2-0A6E-10AC-B49D-1F6615AF32E3}"/>
              </a:ext>
            </a:extLst>
          </p:cNvPr>
          <p:cNvSpPr/>
          <p:nvPr/>
        </p:nvSpPr>
        <p:spPr>
          <a:xfrm>
            <a:off x="244690" y="105145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Transformation </a:t>
            </a:r>
            <a:endParaRPr lang="en-US" sz="3600" dirty="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559986E8-1A84-B168-4140-0EAD6E935274}"/>
              </a:ext>
            </a:extLst>
          </p:cNvPr>
          <p:cNvSpPr/>
          <p:nvPr/>
        </p:nvSpPr>
        <p:spPr>
          <a:xfrm>
            <a:off x="5715000" y="1051560"/>
            <a:ext cx="2971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200" dirty="0"/>
          </a:p>
        </p:txBody>
      </p:sp>
      <p:sp>
        <p:nvSpPr>
          <p:cNvPr id="50" name="Shape 48">
            <a:extLst>
              <a:ext uri="{FF2B5EF4-FFF2-40B4-BE49-F238E27FC236}">
                <a16:creationId xmlns:a16="http://schemas.microsoft.com/office/drawing/2014/main" id="{AA86A633-C48D-3DB4-44E1-1AAB4D509004}"/>
              </a:ext>
            </a:extLst>
          </p:cNvPr>
          <p:cNvSpPr/>
          <p:nvPr/>
        </p:nvSpPr>
        <p:spPr>
          <a:xfrm>
            <a:off x="5715000" y="1490472"/>
            <a:ext cx="29718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026" name="Picture 2" descr="Logarithmic Transformation — Most Popular, Least Understood | by Tarun @  DataMantra | Medium">
            <a:extLst>
              <a:ext uri="{FF2B5EF4-FFF2-40B4-BE49-F238E27FC236}">
                <a16:creationId xmlns:a16="http://schemas.microsoft.com/office/drawing/2014/main" id="{EA5ACB16-23DC-56C7-2D10-ED94730725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201" y="1148728"/>
            <a:ext cx="7279353" cy="3434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811118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ADC3D-C673-C584-9D6F-D05E12AF0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6718BC3-847C-969B-E495-E3C034A7AE8A}"/>
              </a:ext>
            </a:extLst>
          </p:cNvPr>
          <p:cNvSpPr/>
          <p:nvPr/>
        </p:nvSpPr>
        <p:spPr>
          <a:xfrm>
            <a:off x="244690" y="105145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Encoding</a:t>
            </a:r>
            <a:endParaRPr lang="en-US" sz="3600" dirty="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F7C5AA8D-608F-6F59-4BD1-D951E1E791B0}"/>
              </a:ext>
            </a:extLst>
          </p:cNvPr>
          <p:cNvSpPr/>
          <p:nvPr/>
        </p:nvSpPr>
        <p:spPr>
          <a:xfrm>
            <a:off x="5715000" y="1051560"/>
            <a:ext cx="2971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200" dirty="0"/>
          </a:p>
        </p:txBody>
      </p:sp>
      <p:sp>
        <p:nvSpPr>
          <p:cNvPr id="50" name="Shape 48">
            <a:extLst>
              <a:ext uri="{FF2B5EF4-FFF2-40B4-BE49-F238E27FC236}">
                <a16:creationId xmlns:a16="http://schemas.microsoft.com/office/drawing/2014/main" id="{2A665BAD-CBF8-7408-D5CE-5B4C07A7D5E2}"/>
              </a:ext>
            </a:extLst>
          </p:cNvPr>
          <p:cNvSpPr/>
          <p:nvPr/>
        </p:nvSpPr>
        <p:spPr>
          <a:xfrm>
            <a:off x="5715000" y="1490472"/>
            <a:ext cx="29718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0F9D40-D378-6A79-D429-74FC0751885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095" t="3668" r="9015"/>
          <a:stretch>
            <a:fillRect/>
          </a:stretch>
        </p:blipFill>
        <p:spPr>
          <a:xfrm>
            <a:off x="1886673" y="852982"/>
            <a:ext cx="5370653" cy="4109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0308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0"/>
          <p:cNvSpPr/>
          <p:nvPr/>
        </p:nvSpPr>
        <p:spPr>
          <a:xfrm>
            <a:off x="3254561" y="1456944"/>
            <a:ext cx="1115568" cy="256032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Pipeline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11480" y="15163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1673" y="2462784"/>
            <a:ext cx="109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22257" y="1456944"/>
            <a:ext cx="1115568" cy="256032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1" name="Shape 9"/>
          <p:cNvSpPr/>
          <p:nvPr/>
        </p:nvSpPr>
        <p:spPr>
          <a:xfrm>
            <a:off x="1151441" y="1621536"/>
            <a:ext cx="457200" cy="457200"/>
          </a:xfrm>
          <a:prstGeom prst="ellipse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2" name="Text 10"/>
          <p:cNvSpPr/>
          <p:nvPr/>
        </p:nvSpPr>
        <p:spPr>
          <a:xfrm>
            <a:off x="1151441" y="162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95409" y="2206752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Transformation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95409" y="3057144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0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log to Price_USD to reduce skewness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937825" y="2462784"/>
            <a:ext cx="109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2038409" y="1456944"/>
            <a:ext cx="1115568" cy="256032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7" name="Shape 15"/>
          <p:cNvSpPr/>
          <p:nvPr/>
        </p:nvSpPr>
        <p:spPr>
          <a:xfrm>
            <a:off x="2367593" y="1621536"/>
            <a:ext cx="457200" cy="457200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8" name="Text 16"/>
          <p:cNvSpPr/>
          <p:nvPr/>
        </p:nvSpPr>
        <p:spPr>
          <a:xfrm>
            <a:off x="2367593" y="162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111561" y="2206752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11561" y="3057144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VehicleAge and KM_per_Year features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153977" y="2462784"/>
            <a:ext cx="109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3583745" y="1621536"/>
            <a:ext cx="457200" cy="457200"/>
          </a:xfrm>
          <a:prstGeom prst="ellipse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 dirty="0"/>
          </a:p>
        </p:txBody>
      </p:sp>
      <p:sp>
        <p:nvSpPr>
          <p:cNvPr id="24" name="Text 22"/>
          <p:cNvSpPr/>
          <p:nvPr/>
        </p:nvSpPr>
        <p:spPr>
          <a:xfrm>
            <a:off x="3583745" y="162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327713" y="2206752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Clipping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327713" y="3057144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0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extreme price values to valid range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370129" y="2462784"/>
            <a:ext cx="109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470713" y="1456944"/>
            <a:ext cx="1115568" cy="256032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9" name="Shape 27"/>
          <p:cNvSpPr/>
          <p:nvPr/>
        </p:nvSpPr>
        <p:spPr>
          <a:xfrm>
            <a:off x="4799897" y="1621536"/>
            <a:ext cx="457200" cy="457200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0" name="Text 28"/>
          <p:cNvSpPr/>
          <p:nvPr/>
        </p:nvSpPr>
        <p:spPr>
          <a:xfrm>
            <a:off x="4799897" y="162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43865" y="2206752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Encoding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43865" y="3057144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One-hot + target + ordinal encoding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86281" y="2462784"/>
            <a:ext cx="109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5686865" y="1456944"/>
            <a:ext cx="1115568" cy="256032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5" name="Shape 33"/>
          <p:cNvSpPr/>
          <p:nvPr/>
        </p:nvSpPr>
        <p:spPr>
          <a:xfrm>
            <a:off x="6016049" y="1621536"/>
            <a:ext cx="457200" cy="457200"/>
          </a:xfrm>
          <a:prstGeom prst="ellipse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6" name="Text 34"/>
          <p:cNvSpPr/>
          <p:nvPr/>
        </p:nvSpPr>
        <p:spPr>
          <a:xfrm>
            <a:off x="6016049" y="162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760017" y="2206752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Scaling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760017" y="3057144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0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 / Standard scaler (fit on train only)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802433" y="2462784"/>
            <a:ext cx="109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6903017" y="1456944"/>
            <a:ext cx="1115568" cy="256032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41" name="Shape 39"/>
          <p:cNvSpPr/>
          <p:nvPr/>
        </p:nvSpPr>
        <p:spPr>
          <a:xfrm>
            <a:off x="7232201" y="1621536"/>
            <a:ext cx="457200" cy="457200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42" name="Text 40"/>
          <p:cNvSpPr/>
          <p:nvPr/>
        </p:nvSpPr>
        <p:spPr>
          <a:xfrm>
            <a:off x="7232201" y="162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6976169" y="2206752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Test Split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976169" y="3057144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train · 15% validation — fixed seed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connected feed-forward neural network built with Keras/TensorFlow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89888"/>
            <a:ext cx="3749040" cy="62179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Layer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7373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8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 + encoded categorical features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148840" y="2016252"/>
            <a:ext cx="3657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075688"/>
            <a:ext cx="3749040" cy="621792"/>
          </a:xfrm>
          <a:prstGeom prst="rect">
            <a:avLst/>
          </a:prstGeom>
          <a:solidFill>
            <a:srgbClr val="1B4E6B"/>
          </a:solidFill>
          <a:ln w="12700">
            <a:solidFill>
              <a:srgbClr val="1B4E6B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9" name="Text 7"/>
          <p:cNvSpPr/>
          <p:nvPr/>
        </p:nvSpPr>
        <p:spPr>
          <a:xfrm>
            <a:off x="594360" y="21488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 128  ReLU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24231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8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 15%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48840" y="2702052"/>
            <a:ext cx="3657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761488"/>
            <a:ext cx="3749040" cy="621792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3" name="Text 11"/>
          <p:cNvSpPr/>
          <p:nvPr/>
        </p:nvSpPr>
        <p:spPr>
          <a:xfrm>
            <a:off x="594360" y="2834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  64  ReLU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" y="31089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8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 10%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148840" y="3387852"/>
            <a:ext cx="3657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447288"/>
            <a:ext cx="3749040" cy="62179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7" name="Text 15"/>
          <p:cNvSpPr/>
          <p:nvPr/>
        </p:nvSpPr>
        <p:spPr>
          <a:xfrm>
            <a:off x="594360" y="3520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  32  ReLU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" y="37947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8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regularization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148840" y="4073652"/>
            <a:ext cx="3657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133088"/>
            <a:ext cx="3749040" cy="621792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1" name="Text 19"/>
          <p:cNvSpPr/>
          <p:nvPr/>
        </p:nvSpPr>
        <p:spPr>
          <a:xfrm>
            <a:off x="594360" y="4206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Layer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94360" y="44805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neuron  —  Linear activation (log-price)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0" y="1389888"/>
            <a:ext cx="4069080" cy="475488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728" y="1453896"/>
            <a:ext cx="329184" cy="329184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5102352" y="1453896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Configuration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72000" y="1956816"/>
            <a:ext cx="4069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7" name="Text 24"/>
          <p:cNvSpPr/>
          <p:nvPr/>
        </p:nvSpPr>
        <p:spPr>
          <a:xfrm>
            <a:off x="4681728" y="202996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355080" y="202996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0" y="2395728"/>
            <a:ext cx="4069080" cy="438912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0" name="Text 27"/>
          <p:cNvSpPr/>
          <p:nvPr/>
        </p:nvSpPr>
        <p:spPr>
          <a:xfrm>
            <a:off x="4681728" y="24688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Rate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355080" y="246888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0" y="2834640"/>
            <a:ext cx="4069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3" name="Text 30"/>
          <p:cNvSpPr/>
          <p:nvPr/>
        </p:nvSpPr>
        <p:spPr>
          <a:xfrm>
            <a:off x="4681728" y="290779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355080" y="29077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(in log space)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0" y="3273552"/>
            <a:ext cx="4069080" cy="438912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6" name="Text 33"/>
          <p:cNvSpPr/>
          <p:nvPr/>
        </p:nvSpPr>
        <p:spPr>
          <a:xfrm>
            <a:off x="4681728" y="334670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Size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6355080" y="334670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4572000" y="3712464"/>
            <a:ext cx="4069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9" name="Text 36"/>
          <p:cNvSpPr/>
          <p:nvPr/>
        </p:nvSpPr>
        <p:spPr>
          <a:xfrm>
            <a:off x="4681728" y="378561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6355080" y="378561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4572000" y="4151376"/>
            <a:ext cx="4069080" cy="438912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42" name="Text 39"/>
          <p:cNvSpPr/>
          <p:nvPr/>
        </p:nvSpPr>
        <p:spPr>
          <a:xfrm>
            <a:off x="4681728" y="422452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Split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6355080" y="42245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4681728" y="46634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Stopping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6355080" y="466344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Patience = 10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4572000" y="4946904"/>
            <a:ext cx="4069080" cy="0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EG"/>
          </a:p>
        </p:txBody>
      </p:sp>
      <p:sp>
        <p:nvSpPr>
          <p:cNvPr id="48" name="Shape 45"/>
          <p:cNvSpPr/>
          <p:nvPr/>
        </p:nvSpPr>
        <p:spPr>
          <a:xfrm>
            <a:off x="4572000" y="5029200"/>
            <a:ext cx="4069080" cy="0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EG"/>
          </a:p>
        </p:txBody>
      </p:sp>
      <p:sp>
        <p:nvSpPr>
          <p:cNvPr id="49" name="Text 46"/>
          <p:cNvSpPr/>
          <p:nvPr/>
        </p:nvSpPr>
        <p:spPr>
          <a:xfrm>
            <a:off x="4572000" y="4681728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 Application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Flask app connecting the trained Keras model to a browser UI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84048" y="1508760"/>
            <a:ext cx="1920240" cy="2103120"/>
          </a:xfrm>
          <a:prstGeom prst="rect">
            <a:avLst/>
          </a:prstGeom>
          <a:solidFill>
            <a:srgbClr val="1A3260"/>
          </a:solidFill>
          <a:ln w="635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69164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4048" y="23317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384048" y="274320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CarPrice_Live_Demo.html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 input form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331720" y="2377440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532888" y="1508760"/>
            <a:ext cx="1920240" cy="2103120"/>
          </a:xfrm>
          <a:prstGeom prst="rect">
            <a:avLst/>
          </a:prstGeom>
          <a:solidFill>
            <a:srgbClr val="1A3260"/>
          </a:solidFill>
          <a:ln w="635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120" y="169164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532888" y="23317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Server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2532888" y="274320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app.py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/predict API endpoint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4480560" y="2377440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4681728" y="1508760"/>
            <a:ext cx="1920240" cy="2103120"/>
          </a:xfrm>
          <a:prstGeom prst="rect">
            <a:avLst/>
          </a:prstGeom>
          <a:solidFill>
            <a:srgbClr val="1A3260"/>
          </a:solidFill>
          <a:ln w="635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0" y="1691640"/>
            <a:ext cx="502920" cy="5029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681728" y="23317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Keras Model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681728" y="274320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.keras file loaded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server start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6629400" y="2377440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6830568" y="1508760"/>
            <a:ext cx="1920240" cy="2103120"/>
          </a:xfrm>
          <a:prstGeom prst="rect">
            <a:avLst/>
          </a:prstGeom>
          <a:solidFill>
            <a:srgbClr val="1A3260"/>
          </a:solidFill>
          <a:ln w="635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1691640"/>
            <a:ext cx="502920" cy="5029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830568" y="23317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Output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6830568" y="274320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USD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estimation</a:t>
            </a:r>
            <a:endParaRPr lang="en-US" sz="100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3840480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77240" y="3822192"/>
            <a:ext cx="8092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form: brand, model, year, engine CC, power BHP, fuel type, transmission, owner type &amp; mileage</a:t>
            </a:r>
            <a:endParaRPr lang="en-US" sz="1150" dirty="0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133088"/>
            <a:ext cx="219456" cy="21945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777240" y="4114800"/>
            <a:ext cx="8092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Single-click 'Predict Price' → instant deep-learning inference via Flask /predict API</a:t>
            </a:r>
            <a:endParaRPr lang="en-US" sz="1150" dirty="0"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425696"/>
            <a:ext cx="219456" cy="219456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77240" y="4407408"/>
            <a:ext cx="8092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batch inference supported:  python srs/inference.py --csv path/to/new_cars.csv</a:t>
            </a:r>
            <a:endParaRPr lang="en-US" sz="1150" dirty="0"/>
          </a:p>
        </p:txBody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718304"/>
            <a:ext cx="219456" cy="219456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777240" y="4700016"/>
            <a:ext cx="8092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guaranteed: fixed random seed · leakage-free preprocessing saved with model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2743200"/>
            <a:ext cx="4114800" cy="4114800"/>
          </a:xfrm>
          <a:prstGeom prst="ellipse">
            <a:avLst/>
          </a:prstGeom>
          <a:solidFill>
            <a:srgbClr val="0A9396">
              <a:alpha val="18000"/>
            </a:srgbClr>
          </a:solidFill>
          <a:ln w="12700">
            <a:solidFill>
              <a:srgbClr val="0A9396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" name="Shape 1"/>
          <p:cNvSpPr/>
          <p:nvPr/>
        </p:nvSpPr>
        <p:spPr>
          <a:xfrm>
            <a:off x="6858000" y="-914400"/>
            <a:ext cx="3200400" cy="3200400"/>
          </a:xfrm>
          <a:prstGeom prst="ellipse">
            <a:avLst/>
          </a:prstGeom>
          <a:solidFill>
            <a:srgbClr val="EE9B00">
              <a:alpha val="20000"/>
            </a:srgbClr>
          </a:solidFill>
          <a:ln w="12700">
            <a:solidFill>
              <a:srgbClr val="EE9B0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365760"/>
            <a:ext cx="1645920" cy="1645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000" b="1" dirty="0">
                <a:solidFill>
                  <a:srgbClr val="1A3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457200" y="2240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3200400" y="3154680"/>
            <a:ext cx="2743200" cy="54864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8" name="Text 5"/>
          <p:cNvSpPr/>
          <p:nvPr/>
        </p:nvSpPr>
        <p:spPr>
          <a:xfrm>
            <a:off x="457200" y="3337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 ·  Feature Importance  ·  Error Analysis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2AB0B-4225-D916-80F1-579653490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13CBC0F-E80D-6DB0-793A-C17D8BA94EC4}"/>
              </a:ext>
            </a:extLst>
          </p:cNvPr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</a:t>
            </a:r>
            <a:endParaRPr lang="en-US" sz="3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F4DAA5C-D7CE-1341-4C82-9E177003918E}"/>
              </a:ext>
            </a:extLst>
          </p:cNvPr>
          <p:cNvSpPr/>
          <p:nvPr/>
        </p:nvSpPr>
        <p:spPr>
          <a:xfrm>
            <a:off x="457200" y="914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on held-out test set — strong generalisation with minimal overfitting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C96828E-ECFB-633E-4DE0-B314BE475797}"/>
              </a:ext>
            </a:extLst>
          </p:cNvPr>
          <p:cNvSpPr/>
          <p:nvPr/>
        </p:nvSpPr>
        <p:spPr>
          <a:xfrm>
            <a:off x="386861" y="1289304"/>
            <a:ext cx="1572768" cy="173736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E4013E1-68FD-622B-3F27-248000B6F93D}"/>
              </a:ext>
            </a:extLst>
          </p:cNvPr>
          <p:cNvSpPr/>
          <p:nvPr/>
        </p:nvSpPr>
        <p:spPr>
          <a:xfrm>
            <a:off x="386861" y="1380744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Score</a:t>
            </a:r>
            <a:endParaRPr lang="en-US" sz="12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F73722B-B68B-22E2-12B8-6DF07543CE5C}"/>
              </a:ext>
            </a:extLst>
          </p:cNvPr>
          <p:cNvSpPr/>
          <p:nvPr/>
        </p:nvSpPr>
        <p:spPr>
          <a:xfrm>
            <a:off x="386861" y="1746504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0.9899</a:t>
            </a:r>
            <a:endParaRPr lang="en-US" sz="22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C8EA7B2-1827-34D9-7577-73733B928BF6}"/>
              </a:ext>
            </a:extLst>
          </p:cNvPr>
          <p:cNvSpPr/>
          <p:nvPr/>
        </p:nvSpPr>
        <p:spPr>
          <a:xfrm>
            <a:off x="386861" y="3075432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99% of price variance explained</a:t>
            </a:r>
            <a:endParaRPr lang="en-US" sz="95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CBC45AC0-F168-F4DC-4D67-4DEAB406C2A0}"/>
              </a:ext>
            </a:extLst>
          </p:cNvPr>
          <p:cNvSpPr/>
          <p:nvPr/>
        </p:nvSpPr>
        <p:spPr>
          <a:xfrm>
            <a:off x="2096789" y="1289304"/>
            <a:ext cx="1572768" cy="173736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D652D9E-7889-5B5D-16BF-5661ADBCC3C7}"/>
              </a:ext>
            </a:extLst>
          </p:cNvPr>
          <p:cNvSpPr/>
          <p:nvPr/>
        </p:nvSpPr>
        <p:spPr>
          <a:xfrm>
            <a:off x="2096789" y="1380744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A4EE875-C47B-2972-D975-1B2104D04D20}"/>
              </a:ext>
            </a:extLst>
          </p:cNvPr>
          <p:cNvSpPr/>
          <p:nvPr/>
        </p:nvSpPr>
        <p:spPr>
          <a:xfrm>
            <a:off x="2096789" y="1746504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$1,109.73</a:t>
            </a:r>
            <a:endParaRPr lang="en-US" sz="22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8E17AE9-8E06-2DE5-A7DC-1C6233004969}"/>
              </a:ext>
            </a:extLst>
          </p:cNvPr>
          <p:cNvSpPr/>
          <p:nvPr/>
        </p:nvSpPr>
        <p:spPr>
          <a:xfrm>
            <a:off x="2096789" y="3090672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Mean Squared Error</a:t>
            </a:r>
            <a:endParaRPr lang="en-US" sz="9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694E4F56-3B17-3864-A3D2-03FA14C64588}"/>
              </a:ext>
            </a:extLst>
          </p:cNvPr>
          <p:cNvSpPr/>
          <p:nvPr/>
        </p:nvSpPr>
        <p:spPr>
          <a:xfrm>
            <a:off x="3806717" y="1289304"/>
            <a:ext cx="1572768" cy="1737360"/>
          </a:xfrm>
          <a:prstGeom prst="rect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B84680C-8596-37B6-3F49-AF9576B805FE}"/>
              </a:ext>
            </a:extLst>
          </p:cNvPr>
          <p:cNvSpPr/>
          <p:nvPr/>
        </p:nvSpPr>
        <p:spPr>
          <a:xfrm>
            <a:off x="3806717" y="1380744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F9BC72C-42C2-40D7-2CBE-CA2F3AC1DB9D}"/>
              </a:ext>
            </a:extLst>
          </p:cNvPr>
          <p:cNvSpPr/>
          <p:nvPr/>
        </p:nvSpPr>
        <p:spPr>
          <a:xfrm>
            <a:off x="3806717" y="1746504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$651.32</a:t>
            </a:r>
            <a:endParaRPr lang="en-US" sz="22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EF11CBA-FD15-80D8-1142-44B3AF4D54F4}"/>
              </a:ext>
            </a:extLst>
          </p:cNvPr>
          <p:cNvSpPr/>
          <p:nvPr/>
        </p:nvSpPr>
        <p:spPr>
          <a:xfrm>
            <a:off x="3806717" y="3090672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Absolute Error</a:t>
            </a:r>
            <a:endParaRPr lang="en-US" sz="95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B96E8B39-AB70-39C3-659A-585E0F7D4783}"/>
              </a:ext>
            </a:extLst>
          </p:cNvPr>
          <p:cNvSpPr/>
          <p:nvPr/>
        </p:nvSpPr>
        <p:spPr>
          <a:xfrm>
            <a:off x="5516645" y="1289304"/>
            <a:ext cx="1572768" cy="1737360"/>
          </a:xfrm>
          <a:prstGeom prst="rect">
            <a:avLst/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B7C17D9A-45C8-DE26-6421-C4CDD9AC4435}"/>
              </a:ext>
            </a:extLst>
          </p:cNvPr>
          <p:cNvSpPr/>
          <p:nvPr/>
        </p:nvSpPr>
        <p:spPr>
          <a:xfrm>
            <a:off x="5516645" y="1380744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12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9F57464-327F-F1C8-F630-5CAC383E5336}"/>
              </a:ext>
            </a:extLst>
          </p:cNvPr>
          <p:cNvSpPr/>
          <p:nvPr/>
        </p:nvSpPr>
        <p:spPr>
          <a:xfrm>
            <a:off x="5516645" y="1746504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5.75%</a:t>
            </a:r>
            <a:endParaRPr lang="en-US" sz="22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EA81F3E0-FC19-9323-5212-F080A293C988}"/>
              </a:ext>
            </a:extLst>
          </p:cNvPr>
          <p:cNvSpPr/>
          <p:nvPr/>
        </p:nvSpPr>
        <p:spPr>
          <a:xfrm>
            <a:off x="5516645" y="3090672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Absolute Percentage Error</a:t>
            </a:r>
            <a:endParaRPr lang="en-US" sz="95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045E173C-E426-1544-D2D3-6D44514CA565}"/>
              </a:ext>
            </a:extLst>
          </p:cNvPr>
          <p:cNvSpPr/>
          <p:nvPr/>
        </p:nvSpPr>
        <p:spPr>
          <a:xfrm>
            <a:off x="7226573" y="1289304"/>
            <a:ext cx="1572768" cy="1737360"/>
          </a:xfrm>
          <a:prstGeom prst="rect">
            <a:avLst/>
          </a:prstGeom>
          <a:solidFill>
            <a:srgbClr val="B54708"/>
          </a:solidFill>
          <a:ln w="12700">
            <a:solidFill>
              <a:srgbClr val="B54708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74A8A5C2-8292-6D36-A614-77F30148FCA3}"/>
              </a:ext>
            </a:extLst>
          </p:cNvPr>
          <p:cNvSpPr/>
          <p:nvPr/>
        </p:nvSpPr>
        <p:spPr>
          <a:xfrm>
            <a:off x="7226573" y="1380744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NRMSE</a:t>
            </a:r>
            <a:endParaRPr lang="en-US" sz="1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63E1815-7DCD-A3EF-0C6B-5652B6AF6E8D}"/>
              </a:ext>
            </a:extLst>
          </p:cNvPr>
          <p:cNvSpPr/>
          <p:nvPr/>
        </p:nvSpPr>
        <p:spPr>
          <a:xfrm>
            <a:off x="7226573" y="1746504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0.0157</a:t>
            </a:r>
            <a:endParaRPr lang="en-US" sz="22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CD30EC0D-87AF-3777-98CF-FB5FB62A30AF}"/>
              </a:ext>
            </a:extLst>
          </p:cNvPr>
          <p:cNvSpPr/>
          <p:nvPr/>
        </p:nvSpPr>
        <p:spPr>
          <a:xfrm>
            <a:off x="7226573" y="3090672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Normalised RMSE (very low)</a:t>
            </a:r>
            <a:endParaRPr lang="en-US" sz="950" dirty="0"/>
          </a:p>
        </p:txBody>
      </p:sp>
      <p:pic>
        <p:nvPicPr>
          <p:cNvPr id="1026" name="Picture 2" descr="MAPE vs MAE: Which Metric is Better? | by Lauren Gilbert | Trusted Data  Science @ Haleon | Medium">
            <a:extLst>
              <a:ext uri="{FF2B5EF4-FFF2-40B4-BE49-F238E27FC236}">
                <a16:creationId xmlns:a16="http://schemas.microsoft.com/office/drawing/2014/main" id="{90ADF340-9A2C-0ED6-587E-FCA27D49D7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6038" y="3546911"/>
            <a:ext cx="3070979" cy="979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rror Metrics: How to Evaluate Your Forecasting Models">
            <a:extLst>
              <a:ext uri="{FF2B5EF4-FFF2-40B4-BE49-F238E27FC236}">
                <a16:creationId xmlns:a16="http://schemas.microsoft.com/office/drawing/2014/main" id="{09192951-8A0C-B176-166E-733C0975C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1822" y="3682076"/>
            <a:ext cx="3187033" cy="709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Linear Regression — Implementation and r2_score | by Abhishek Jain | Medium">
            <a:extLst>
              <a:ext uri="{FF2B5EF4-FFF2-40B4-BE49-F238E27FC236}">
                <a16:creationId xmlns:a16="http://schemas.microsoft.com/office/drawing/2014/main" id="{7A349A4B-3D86-F7FC-0AFC-B6ECF54032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829" y="3792838"/>
            <a:ext cx="3332261" cy="833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330740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B848A-2466-F795-EB66-2702EFF10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EE5FB58-2F86-B004-F406-28B67FB72E25}"/>
              </a:ext>
            </a:extLst>
          </p:cNvPr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Score </a:t>
            </a:r>
            <a:endParaRPr lang="en-US" sz="3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811F2B8-A5F4-FF89-5652-FB68363F9E3D}"/>
              </a:ext>
            </a:extLst>
          </p:cNvPr>
          <p:cNvSpPr/>
          <p:nvPr/>
        </p:nvSpPr>
        <p:spPr>
          <a:xfrm>
            <a:off x="386861" y="1380744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Score</a:t>
            </a:r>
            <a:endParaRPr lang="en-US" sz="12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E81A51B-B38C-E635-7C19-192D52D7DBCA}"/>
              </a:ext>
            </a:extLst>
          </p:cNvPr>
          <p:cNvSpPr/>
          <p:nvPr/>
        </p:nvSpPr>
        <p:spPr>
          <a:xfrm>
            <a:off x="386861" y="1746504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0.9899</a:t>
            </a:r>
            <a:endParaRPr lang="en-US" sz="22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AB6A2C8-02F7-9038-6BF1-B8749EEA2CA5}"/>
              </a:ext>
            </a:extLst>
          </p:cNvPr>
          <p:cNvSpPr/>
          <p:nvPr/>
        </p:nvSpPr>
        <p:spPr>
          <a:xfrm>
            <a:off x="2096789" y="1380744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0D1E0F0-A01F-2430-5254-5A27878155A4}"/>
              </a:ext>
            </a:extLst>
          </p:cNvPr>
          <p:cNvSpPr/>
          <p:nvPr/>
        </p:nvSpPr>
        <p:spPr>
          <a:xfrm>
            <a:off x="2096789" y="1746504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$1,109.73</a:t>
            </a:r>
            <a:endParaRPr lang="en-US" sz="22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6D91080-3B51-3DFD-EFEE-C0B49030E659}"/>
              </a:ext>
            </a:extLst>
          </p:cNvPr>
          <p:cNvSpPr/>
          <p:nvPr/>
        </p:nvSpPr>
        <p:spPr>
          <a:xfrm>
            <a:off x="3806717" y="1380744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CD1FB41-BE6E-1C35-225A-364EDB92D47D}"/>
              </a:ext>
            </a:extLst>
          </p:cNvPr>
          <p:cNvSpPr/>
          <p:nvPr/>
        </p:nvSpPr>
        <p:spPr>
          <a:xfrm>
            <a:off x="3806717" y="1746504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$651.32</a:t>
            </a:r>
            <a:endParaRPr lang="en-US" sz="22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D4D807DA-AA29-A85F-EE7B-C9B47A0FB986}"/>
              </a:ext>
            </a:extLst>
          </p:cNvPr>
          <p:cNvSpPr/>
          <p:nvPr/>
        </p:nvSpPr>
        <p:spPr>
          <a:xfrm>
            <a:off x="5516645" y="1380744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12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4EDC60CC-4621-57D3-45E8-B214267CCF15}"/>
              </a:ext>
            </a:extLst>
          </p:cNvPr>
          <p:cNvSpPr/>
          <p:nvPr/>
        </p:nvSpPr>
        <p:spPr>
          <a:xfrm>
            <a:off x="5516645" y="1746504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5.75%</a:t>
            </a:r>
            <a:endParaRPr lang="en-US" sz="22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76FDD32E-C489-708F-A0B0-D4562FD28494}"/>
              </a:ext>
            </a:extLst>
          </p:cNvPr>
          <p:cNvSpPr/>
          <p:nvPr/>
        </p:nvSpPr>
        <p:spPr>
          <a:xfrm>
            <a:off x="7226573" y="1380744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NRMSE</a:t>
            </a:r>
            <a:endParaRPr lang="en-US" sz="1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66A5AFF2-C763-1E7F-E130-C3E1FF9F9A5A}"/>
              </a:ext>
            </a:extLst>
          </p:cNvPr>
          <p:cNvSpPr/>
          <p:nvPr/>
        </p:nvSpPr>
        <p:spPr>
          <a:xfrm>
            <a:off x="7226573" y="1746504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0.0157</a:t>
            </a:r>
            <a:endParaRPr lang="en-US" sz="22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E85CC2E-4642-22CA-55C3-21FBA53DCA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750"/>
          <a:stretch>
            <a:fillRect/>
          </a:stretch>
        </p:blipFill>
        <p:spPr bwMode="auto">
          <a:xfrm>
            <a:off x="2202610" y="703384"/>
            <a:ext cx="4844601" cy="4341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77464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92608" y="1325880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Score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2608" y="1691640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0.9899</a:t>
            </a:r>
            <a:endParaRPr lang="en-US" sz="22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28927DB-5414-4D58-A0FF-54D2A50ABE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48159"/>
            <a:ext cx="9144000" cy="325866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&amp; Bias–Variance Analysis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40680" y="1005840"/>
            <a:ext cx="32918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20" name="Shape 14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1" name="Text 15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average the model predicts within  5.75% MAPE  of the actual price — reliable enough for real-world pricing decisions.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B3AD672-C4C6-0985-038E-10561B2630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05840"/>
            <a:ext cx="9144000" cy="322574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513D1-9EB1-24C3-CA62-176CC3D8F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6C61E5-3ABD-1595-813E-37FD6B453C93}"/>
              </a:ext>
            </a:extLst>
          </p:cNvPr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&amp; Bias–Variance Analysis</a:t>
            </a:r>
            <a:endParaRPr lang="en-US" sz="3600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6CC743A-76B8-9B63-183D-32A5540002F5}"/>
              </a:ext>
            </a:extLst>
          </p:cNvPr>
          <p:cNvSpPr/>
          <p:nvPr/>
        </p:nvSpPr>
        <p:spPr>
          <a:xfrm>
            <a:off x="566929" y="1046988"/>
            <a:ext cx="571195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9CF412EE-B8A2-E331-A0D4-24D925A2D9CB}"/>
              </a:ext>
            </a:extLst>
          </p:cNvPr>
          <p:cNvSpPr/>
          <p:nvPr/>
        </p:nvSpPr>
        <p:spPr>
          <a:xfrm>
            <a:off x="502921" y="1033272"/>
            <a:ext cx="64008" cy="100584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B8DDC849-2592-68CD-C44B-C32374AFB9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3" y="1380744"/>
            <a:ext cx="274320" cy="274320"/>
          </a:xfrm>
          <a:prstGeom prst="rect">
            <a:avLst/>
          </a:prstGeom>
        </p:spPr>
      </p:pic>
      <p:sp>
        <p:nvSpPr>
          <p:cNvPr id="8" name="Text 4">
            <a:extLst>
              <a:ext uri="{FF2B5EF4-FFF2-40B4-BE49-F238E27FC236}">
                <a16:creationId xmlns:a16="http://schemas.microsoft.com/office/drawing/2014/main" id="{A94AF62C-2656-6B1E-2AA7-77FC3BFFD715}"/>
              </a:ext>
            </a:extLst>
          </p:cNvPr>
          <p:cNvSpPr/>
          <p:nvPr/>
        </p:nvSpPr>
        <p:spPr>
          <a:xfrm>
            <a:off x="1005841" y="110642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Bias–Variance</a:t>
            </a:r>
            <a:endParaRPr lang="en-US" sz="13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BA90C8A2-03E8-5A45-6BC4-F8FC42A00B80}"/>
              </a:ext>
            </a:extLst>
          </p:cNvPr>
          <p:cNvSpPr/>
          <p:nvPr/>
        </p:nvSpPr>
        <p:spPr>
          <a:xfrm>
            <a:off x="1005840" y="1453896"/>
            <a:ext cx="5273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gap between training and test performance confirms excellent generalisation with minimal overfitting. The model is well-balanced.</a:t>
            </a:r>
            <a:endParaRPr lang="en-US" sz="1050" dirty="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71E0437C-2CCC-8947-FD8B-307A05B3DE97}"/>
              </a:ext>
            </a:extLst>
          </p:cNvPr>
          <p:cNvSpPr/>
          <p:nvPr/>
        </p:nvSpPr>
        <p:spPr>
          <a:xfrm>
            <a:off x="502921" y="2176272"/>
            <a:ext cx="5775958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4B84611C-720E-EAB7-ED87-129F6D98A0FB}"/>
              </a:ext>
            </a:extLst>
          </p:cNvPr>
          <p:cNvSpPr/>
          <p:nvPr/>
        </p:nvSpPr>
        <p:spPr>
          <a:xfrm>
            <a:off x="502921" y="2176272"/>
            <a:ext cx="64008" cy="1005840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2" name="Image 1" descr="preencoded.png">
            <a:extLst>
              <a:ext uri="{FF2B5EF4-FFF2-40B4-BE49-F238E27FC236}">
                <a16:creationId xmlns:a16="http://schemas.microsoft.com/office/drawing/2014/main" id="{8D28375E-97D2-DB75-0EED-3DFD97BEA4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3" y="2523744"/>
            <a:ext cx="274320" cy="274320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3C996847-FFED-C124-B3FC-7774C0822659}"/>
              </a:ext>
            </a:extLst>
          </p:cNvPr>
          <p:cNvSpPr/>
          <p:nvPr/>
        </p:nvSpPr>
        <p:spPr>
          <a:xfrm>
            <a:off x="1005841" y="224942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Patterns</a:t>
            </a:r>
            <a:endParaRPr lang="en-US" sz="1300" dirty="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09CA03D9-D708-797D-6970-CF6CB441573F}"/>
              </a:ext>
            </a:extLst>
          </p:cNvPr>
          <p:cNvSpPr/>
          <p:nvPr/>
        </p:nvSpPr>
        <p:spPr>
          <a:xfrm>
            <a:off x="1005840" y="2596896"/>
            <a:ext cx="51587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higher error observed for luxury vehicles. Increased variance in the high-price segment (&gt;$50K). Limited coverage of rare models.</a:t>
            </a:r>
            <a:endParaRPr lang="en-US" sz="1050" dirty="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13392560-38C1-D397-0929-1B134850D898}"/>
              </a:ext>
            </a:extLst>
          </p:cNvPr>
          <p:cNvSpPr/>
          <p:nvPr/>
        </p:nvSpPr>
        <p:spPr>
          <a:xfrm>
            <a:off x="502921" y="3319272"/>
            <a:ext cx="5775958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BCC4EB82-AD8D-057F-3EBD-F4A6FF4F6FD7}"/>
              </a:ext>
            </a:extLst>
          </p:cNvPr>
          <p:cNvSpPr/>
          <p:nvPr/>
        </p:nvSpPr>
        <p:spPr>
          <a:xfrm>
            <a:off x="502921" y="3319272"/>
            <a:ext cx="64008" cy="1005840"/>
          </a:xfrm>
          <a:prstGeom prst="rect">
            <a:avLst/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7" name="Image 2" descr="preencoded.png">
            <a:extLst>
              <a:ext uri="{FF2B5EF4-FFF2-40B4-BE49-F238E27FC236}">
                <a16:creationId xmlns:a16="http://schemas.microsoft.com/office/drawing/2014/main" id="{2D651A05-4809-0603-6046-932E5613D3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3" y="3666744"/>
            <a:ext cx="274320" cy="274320"/>
          </a:xfrm>
          <a:prstGeom prst="rect">
            <a:avLst/>
          </a:prstGeom>
        </p:spPr>
      </p:pic>
      <p:sp>
        <p:nvSpPr>
          <p:cNvPr id="18" name="Text 12">
            <a:extLst>
              <a:ext uri="{FF2B5EF4-FFF2-40B4-BE49-F238E27FC236}">
                <a16:creationId xmlns:a16="http://schemas.microsoft.com/office/drawing/2014/main" id="{BE71B9E0-A31D-AF4E-68B1-F843771ED0B1}"/>
              </a:ext>
            </a:extLst>
          </p:cNvPr>
          <p:cNvSpPr/>
          <p:nvPr/>
        </p:nvSpPr>
        <p:spPr>
          <a:xfrm>
            <a:off x="1005841" y="339242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Distribution</a:t>
            </a:r>
            <a:endParaRPr lang="en-US" sz="1300" dirty="0"/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C7C12C36-CDCE-735B-995B-BEFDA0DFE57C}"/>
              </a:ext>
            </a:extLst>
          </p:cNvPr>
          <p:cNvSpPr/>
          <p:nvPr/>
        </p:nvSpPr>
        <p:spPr>
          <a:xfrm>
            <a:off x="1005840" y="3739896"/>
            <a:ext cx="5273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Residuals are approximately normally distributed and centred near zero — confirming the model captures the main pricing signal.</a:t>
            </a:r>
            <a:endParaRPr lang="en-US" sz="1050" dirty="0"/>
          </a:p>
        </p:txBody>
      </p:sp>
      <p:sp>
        <p:nvSpPr>
          <p:cNvPr id="20" name="Shape 14">
            <a:extLst>
              <a:ext uri="{FF2B5EF4-FFF2-40B4-BE49-F238E27FC236}">
                <a16:creationId xmlns:a16="http://schemas.microsoft.com/office/drawing/2014/main" id="{D3F6B270-CD31-9976-923F-C4DF995A8E3B}"/>
              </a:ext>
            </a:extLst>
          </p:cNvPr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889DF821-F232-484E-7CF2-B5A9E5BC0DDB}"/>
              </a:ext>
            </a:extLst>
          </p:cNvPr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average the model predicts within  5.75% MAPE  of the actual price — reliable enough for real-world pricing decisions.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692702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85876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6076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worked, what we'd do differently, and where we go next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2110588"/>
            <a:ext cx="3977640" cy="45720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174596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2174596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Worked Well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613508"/>
            <a:ext cx="39776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677516"/>
            <a:ext cx="228600" cy="228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4400" y="2631796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(15%/10%) significantly reduced overfitting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57200" y="3134716"/>
            <a:ext cx="3977640" cy="47548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198724"/>
            <a:ext cx="228600" cy="2286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14400" y="3153004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Log-space MSE loss stabilised optimisation of skewed prices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457200" y="3655924"/>
            <a:ext cx="39776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719932"/>
            <a:ext cx="228600" cy="2286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14400" y="3674212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encoding for Model preserved price signal without explosion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4663440" y="2110588"/>
            <a:ext cx="3977640" cy="457200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2174596"/>
            <a:ext cx="320040" cy="32004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212080" y="2174596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4663440" y="2613508"/>
            <a:ext cx="39776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2677516"/>
            <a:ext cx="228600" cy="22860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5120640" y="2631796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dataset (~3K records) constrained model capacity</a:t>
            </a:r>
            <a:endParaRPr lang="en-US" sz="1100" dirty="0"/>
          </a:p>
        </p:txBody>
      </p:sp>
      <p:sp>
        <p:nvSpPr>
          <p:cNvPr id="25" name="Shape 16"/>
          <p:cNvSpPr/>
          <p:nvPr/>
        </p:nvSpPr>
        <p:spPr>
          <a:xfrm>
            <a:off x="4663440" y="3134716"/>
            <a:ext cx="3977640" cy="47548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3198724"/>
            <a:ext cx="228600" cy="22860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5120640" y="3153004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High-cardinality brand/model features required careful encoding</a:t>
            </a:r>
            <a:endParaRPr lang="en-US" sz="1100" dirty="0"/>
          </a:p>
        </p:txBody>
      </p:sp>
      <p:sp>
        <p:nvSpPr>
          <p:cNvPr id="28" name="Shape 18"/>
          <p:cNvSpPr/>
          <p:nvPr/>
        </p:nvSpPr>
        <p:spPr>
          <a:xfrm>
            <a:off x="4663440" y="3655924"/>
            <a:ext cx="39776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9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3719932"/>
            <a:ext cx="228600" cy="228600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5120640" y="3674212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luxury prices increased variance in high-price segment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2743200"/>
            <a:ext cx="4114800" cy="4114800"/>
          </a:xfrm>
          <a:prstGeom prst="ellipse">
            <a:avLst/>
          </a:prstGeom>
          <a:solidFill>
            <a:srgbClr val="0A9396">
              <a:alpha val="18000"/>
            </a:srgbClr>
          </a:solidFill>
          <a:ln w="12700">
            <a:solidFill>
              <a:srgbClr val="0A9396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" name="Shape 1"/>
          <p:cNvSpPr/>
          <p:nvPr/>
        </p:nvSpPr>
        <p:spPr>
          <a:xfrm>
            <a:off x="6858000" y="-1097280"/>
            <a:ext cx="3474720" cy="3474720"/>
          </a:xfrm>
          <a:prstGeom prst="ellipse">
            <a:avLst/>
          </a:prstGeom>
          <a:solidFill>
            <a:srgbClr val="EE9B00">
              <a:alpha val="20000"/>
            </a:srgbClr>
          </a:solidFill>
          <a:ln w="12700">
            <a:solidFill>
              <a:srgbClr val="EE9B0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2232" y="228600"/>
            <a:ext cx="868680" cy="868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07899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6" name="Shape 3"/>
          <p:cNvSpPr/>
          <p:nvPr/>
        </p:nvSpPr>
        <p:spPr>
          <a:xfrm>
            <a:off x="3383280" y="2084832"/>
            <a:ext cx="2377440" cy="54864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7" name="Text 4"/>
          <p:cNvSpPr/>
          <p:nvPr/>
        </p:nvSpPr>
        <p:spPr>
          <a:xfrm>
            <a:off x="457200" y="224028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0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980944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" y="290779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978408" y="327355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Transparent, data-driven pricing for buyers, sellers &amp; platforms</a:t>
            </a:r>
            <a:endParaRPr lang="en-US" sz="11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4142232"/>
            <a:ext cx="347472" cy="3474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78408" y="40690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Solution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978408" y="44348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4-layer DNN + Flask app + CLI inference · Keras / TensorFlow</a:t>
            </a:r>
            <a:endParaRPr lang="en-US" sz="11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600" y="2980944"/>
            <a:ext cx="347472" cy="34747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276088" y="290779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5276088" y="327355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0.9899  ·  MAE = $651.32  ·  MAPE = 5.75%</a:t>
            </a:r>
            <a:endParaRPr lang="en-US" sz="11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4142232"/>
            <a:ext cx="347472" cy="347472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276088" y="40690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1300" dirty="0"/>
          </a:p>
        </p:txBody>
      </p:sp>
      <p:sp>
        <p:nvSpPr>
          <p:cNvPr id="19" name="Text 12"/>
          <p:cNvSpPr/>
          <p:nvPr/>
        </p:nvSpPr>
        <p:spPr>
          <a:xfrm>
            <a:off x="5276088" y="44348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Log-space loss + Dropout + leakage-free pipeline = robust model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1093</Words>
  <Application>Microsoft Office PowerPoint</Application>
  <PresentationFormat>On-screen Show (16:9)</PresentationFormat>
  <Paragraphs>270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 Price Prediction Using Deep Learning</dc:title>
  <dc:subject>PptxGenJS Presentation</dc:subject>
  <dc:creator>PptxGenJS</dc:creator>
  <cp:lastModifiedBy>shiref ashraf</cp:lastModifiedBy>
  <cp:revision>10</cp:revision>
  <dcterms:created xsi:type="dcterms:W3CDTF">2026-05-13T19:54:06Z</dcterms:created>
  <dcterms:modified xsi:type="dcterms:W3CDTF">2026-05-14T11:15:24Z</dcterms:modified>
</cp:coreProperties>
</file>