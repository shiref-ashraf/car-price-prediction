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74" r:id="rId10"/>
    <p:sldId id="262" r:id="rId11"/>
    <p:sldId id="263" r:id="rId12"/>
    <p:sldId id="264" r:id="rId13"/>
    <p:sldId id="265" r:id="rId14"/>
    <p:sldId id="276" r:id="rId15"/>
    <p:sldId id="266" r:id="rId16"/>
    <p:sldId id="267" r:id="rId17"/>
    <p:sldId id="268" r:id="rId18"/>
    <p:sldId id="275" r:id="rId19"/>
    <p:sldId id="269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625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95A1-0D3F-E75E-1787-6C1ABA8B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80F31-9D8B-E97B-1A9D-016C693F1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E52CA-9252-DB50-B5A9-02A350888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0A8CF-095E-9AC3-5AF3-274A91130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67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35DE-455C-9F6C-4A1A-4096877A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5005F-55E7-2DDB-ED05-1415478EE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75FB7-66EE-4534-5A7D-20AB1C358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30458-B583-C4E4-B4E8-B0CB3D98F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93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A1F9-30C6-4643-79A8-89BA61A6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1E1E4-C000-8250-3360-7731185D7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7FF8C-E108-5359-511E-503F12646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E1E4E-4A4D-A5B9-1DED-3727F9740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9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B1E39-F7F0-F82C-F309-885629B6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986EF-4D94-0311-2872-56B9C5BD4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E3EC3-1E7A-8E36-71AE-83BB02236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0E734-481C-0C95-079C-D8C6BBC76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43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78B61-8F1C-1682-6E8C-33DBA109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90CFC-2067-EF22-81A6-A26B6EABB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E3CCA-CE51-CB01-96F8-89A58208D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50670-5A37-A8FF-F3D9-0B9E214D76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16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EE9B00">
              <a:alpha val="20000"/>
            </a:srgbClr>
          </a:solidFill>
          <a:ln w="12700">
            <a:solidFill>
              <a:srgbClr val="EE9B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2296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447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 Prediction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1762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57200" y="2898648"/>
            <a:ext cx="2011680" cy="502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Text 6"/>
          <p:cNvSpPr/>
          <p:nvPr/>
        </p:nvSpPr>
        <p:spPr>
          <a:xfrm>
            <a:off x="457200" y="3035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433  —  Emerging Topics in CS &amp; Engineering: Deep Learning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 Assoc. Prof. Dr. Mohammed Kamal Abdel Salam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Elsalhy  ·  120220093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187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Shiref Ashraf  ·  120220099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5354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Nagah  ·  120220116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Tasbih Othman  ·  120220117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4187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Mazroua  ·  120220118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0" y="45354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Yasmeen Sameh  ·  120220143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E-JUST  |  May 13,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4008" cy="1463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0" y="13258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207008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07008" y="185623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objectives &amp; who benefits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64008" cy="1463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8328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971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207008" y="3063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07008" y="350215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preprocessing, model &amp; web app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23444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Shape 12"/>
          <p:cNvSpPr/>
          <p:nvPr/>
        </p:nvSpPr>
        <p:spPr>
          <a:xfrm>
            <a:off x="4754880" y="1234440"/>
            <a:ext cx="64008" cy="1463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373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13258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5504688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504688" y="185623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metrics, feature importance &amp; error analysis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88036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Shape 17"/>
          <p:cNvSpPr/>
          <p:nvPr/>
        </p:nvSpPr>
        <p:spPr>
          <a:xfrm>
            <a:off x="4754880" y="2880360"/>
            <a:ext cx="64008" cy="1463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8328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0" y="2971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504688" y="3063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504688" y="350215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improvements &amp;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used car pricing so difficult?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0" cy="3383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2763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Challenge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14400" y="2944368"/>
            <a:ext cx="29260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594360" y="3063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pricing depends on many interconnected variables, making manual estimation difficult and inconsistent.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40050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pricing leads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 for both buyers &amp; sellers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141732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Shape 8"/>
          <p:cNvSpPr/>
          <p:nvPr/>
        </p:nvSpPr>
        <p:spPr>
          <a:xfrm>
            <a:off x="4617720" y="1417320"/>
            <a:ext cx="64008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9"/>
          <p:cNvSpPr/>
          <p:nvPr/>
        </p:nvSpPr>
        <p:spPr>
          <a:xfrm>
            <a:off x="4800600" y="1508760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00600" y="1847088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can't tell if a listed price is fair; sellers lack benchmarks to price competitively.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256032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4617720" y="2560320"/>
            <a:ext cx="64008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3"/>
          <p:cNvSpPr/>
          <p:nvPr/>
        </p:nvSpPr>
        <p:spPr>
          <a:xfrm>
            <a:off x="4800600" y="2651760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Variables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00600" y="2990088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mileage, brand, fuel type, ownership history — humans cannot process them simultaneously.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17720" y="370332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Shape 16"/>
          <p:cNvSpPr/>
          <p:nvPr/>
        </p:nvSpPr>
        <p:spPr>
          <a:xfrm>
            <a:off x="4617720" y="3703320"/>
            <a:ext cx="64008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Text 17"/>
          <p:cNvSpPr/>
          <p:nvPr/>
        </p:nvSpPr>
        <p:spPr>
          <a:xfrm>
            <a:off x="4800600" y="3794760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Methods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00600" y="4133088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pricing relies on manual estimates, historical averages, or subjective judgment.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delivers impact across the entire used-car ecosystem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060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60604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55448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Buyers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743200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0976" y="271576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verify if an asking price is fair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83280"/>
            <a:ext cx="246888" cy="2468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" y="33558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model predictions before purchase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023360"/>
            <a:ext cx="246888" cy="2468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0976" y="39959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confident, data-backed decisions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291840" y="1481328"/>
            <a:ext cx="26060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Shape 9"/>
          <p:cNvSpPr/>
          <p:nvPr/>
        </p:nvSpPr>
        <p:spPr>
          <a:xfrm>
            <a:off x="3291840" y="1481328"/>
            <a:ext cx="260604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1554480"/>
            <a:ext cx="438912" cy="4389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01568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&amp; Dealerships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743200"/>
            <a:ext cx="246888" cy="2468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785616" y="271576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vehicles competitively from day one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3383280"/>
            <a:ext cx="246888" cy="2468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785616" y="33558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time-on-lot with accurate listings</a:t>
            </a:r>
            <a:endParaRPr lang="en-US" sz="11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4023360"/>
            <a:ext cx="246888" cy="2468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785616" y="39959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profit with market-aligned pricing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6126480" y="1481328"/>
            <a:ext cx="26060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5" name="Shape 15"/>
          <p:cNvSpPr/>
          <p:nvPr/>
        </p:nvSpPr>
        <p:spPr>
          <a:xfrm>
            <a:off x="6126480" y="1481328"/>
            <a:ext cx="2606040" cy="6583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1554480"/>
            <a:ext cx="438912" cy="43891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236208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Platforms</a:t>
            </a:r>
            <a:endParaRPr lang="en-US" sz="13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743200"/>
            <a:ext cx="246888" cy="2468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620256" y="271576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online car-selling platforms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383280"/>
            <a:ext cx="246888" cy="24688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620256" y="33558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dealership inventory pricing systems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023360"/>
            <a:ext cx="246888" cy="24688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620256" y="39959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insurance &amp; financing valuation</a:t>
            </a:r>
            <a:endParaRPr lang="en-US" sz="1100" dirty="0"/>
          </a:p>
        </p:txBody>
      </p:sp>
      <p:sp>
        <p:nvSpPr>
          <p:cNvPr id="34" name="Shape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5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Objectives:   Develop an intelligent system  ·  Analyze pricing factors  ·  Build a complete DL pipeline  ·  Scalable for real-world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114800" cy="4114800"/>
          </a:xfrm>
          <a:prstGeom prst="ellipse">
            <a:avLst/>
          </a:prstGeom>
          <a:solidFill>
            <a:srgbClr val="0A9396">
              <a:alpha val="18000"/>
            </a:srgbClr>
          </a:solidFill>
          <a:ln w="12700">
            <a:solidFill>
              <a:srgbClr val="0A93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EE9B00">
              <a:alpha val="20000"/>
            </a:srgbClr>
          </a:solidFill>
          <a:ln w="12700">
            <a:solidFill>
              <a:srgbClr val="EE9B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657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Solution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315468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·  Preprocessing  ·  Model Architecture  ·  Web App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Engineering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used car records with structured numerical and categorical features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0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74520" y="10515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10515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5029200" cy="34747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74520" y="149047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1490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manufacturer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37944"/>
            <a:ext cx="50292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502920" y="183794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74520" y="183794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1837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model (target encoded)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5029200" cy="34747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502920" y="218541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74520" y="218541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71800" y="2185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year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32888"/>
            <a:ext cx="50292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502920" y="253288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Engine_CC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74520" y="253288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71800" y="2532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displacement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5029200" cy="34747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502920" y="28803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Power_BHP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74520" y="28803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71800" y="2880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power output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27832"/>
            <a:ext cx="50292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502920" y="322783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Fuel_Type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74520" y="322783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71800" y="3227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(one-hot)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75304"/>
            <a:ext cx="5029200" cy="34747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502920" y="357530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74520" y="357530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71800" y="35753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type (one-hot)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922776"/>
            <a:ext cx="50292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502920" y="392277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Owner_Type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874520" y="392277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71800" y="39227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previous owners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270248"/>
            <a:ext cx="5029200" cy="34747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Text 39"/>
          <p:cNvSpPr/>
          <p:nvPr/>
        </p:nvSpPr>
        <p:spPr>
          <a:xfrm>
            <a:off x="502920" y="42702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874520" y="427024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971800" y="4270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driven kilometers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617720"/>
            <a:ext cx="50292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5" name="Text 43"/>
          <p:cNvSpPr/>
          <p:nvPr/>
        </p:nvSpPr>
        <p:spPr>
          <a:xfrm>
            <a:off x="502920" y="461772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Price_USD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874520" y="46177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971800" y="4617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vehicle selling price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15000" y="1051560"/>
            <a:ext cx="297180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9" name="Text 47"/>
          <p:cNvSpPr/>
          <p:nvPr/>
        </p:nvSpPr>
        <p:spPr>
          <a:xfrm>
            <a:off x="5715000" y="105156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715000" y="1490472"/>
            <a:ext cx="2971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1" name="Text 49"/>
          <p:cNvSpPr/>
          <p:nvPr/>
        </p:nvSpPr>
        <p:spPr>
          <a:xfrm>
            <a:off x="5852160" y="1581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852160" y="1901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VehicleAge  =  2024 − Year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852160" y="2176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KM_per_Year  =  KM_Driven / (VehicleAge + 1)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852160" y="2450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 on Price_USD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715000" y="2999232"/>
            <a:ext cx="2971800" cy="43891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6" name="Text 54"/>
          <p:cNvSpPr/>
          <p:nvPr/>
        </p:nvSpPr>
        <p:spPr>
          <a:xfrm>
            <a:off x="5715000" y="299923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15000" y="3438144"/>
            <a:ext cx="2971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8" name="Text 56"/>
          <p:cNvSpPr/>
          <p:nvPr/>
        </p:nvSpPr>
        <p:spPr>
          <a:xfrm>
            <a:off x="5852160" y="35295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Encoding: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852160" y="3730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Fuel Type, Transmission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852160" y="3959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Encoding: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852160" y="41605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(reduces dimensionality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preserving price signal)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852160" y="43891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Encoding: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852160" y="45902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Owner_Type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7AB3-2902-085B-E481-56B511E4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3A3956-EEDC-2F8A-8E09-6E12B876E7B1}"/>
              </a:ext>
            </a:extLst>
          </p:cNvPr>
          <p:cNvSpPr/>
          <p:nvPr/>
        </p:nvSpPr>
        <p:spPr>
          <a:xfrm>
            <a:off x="244690" y="105145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Engineering</a:t>
            </a:r>
            <a:endParaRPr lang="en-US" sz="36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7A271AD-AD22-CD92-69CB-320E989948B4}"/>
              </a:ext>
            </a:extLst>
          </p:cNvPr>
          <p:cNvSpPr/>
          <p:nvPr/>
        </p:nvSpPr>
        <p:spPr>
          <a:xfrm>
            <a:off x="5715000" y="105156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434B1F33-B2A0-560F-8B9C-02DB1A83284A}"/>
              </a:ext>
            </a:extLst>
          </p:cNvPr>
          <p:cNvSpPr/>
          <p:nvPr/>
        </p:nvSpPr>
        <p:spPr>
          <a:xfrm>
            <a:off x="5715000" y="1490472"/>
            <a:ext cx="2971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16E26789-86A2-EC55-3619-1041F9349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99505"/>
            <a:ext cx="8017090" cy="44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84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22558-6BF6-2220-3DA4-507B37A47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2EEED2-0A6E-10AC-B49D-1F6615AF32E3}"/>
              </a:ext>
            </a:extLst>
          </p:cNvPr>
          <p:cNvSpPr/>
          <p:nvPr/>
        </p:nvSpPr>
        <p:spPr>
          <a:xfrm>
            <a:off x="244690" y="105145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 </a:t>
            </a:r>
            <a:endParaRPr lang="en-US" sz="36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59986E8-1A84-B168-4140-0EAD6E935274}"/>
              </a:ext>
            </a:extLst>
          </p:cNvPr>
          <p:cNvSpPr/>
          <p:nvPr/>
        </p:nvSpPr>
        <p:spPr>
          <a:xfrm>
            <a:off x="5715000" y="105156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A86A633-C48D-3DB4-44E1-1AAB4D509004}"/>
              </a:ext>
            </a:extLst>
          </p:cNvPr>
          <p:cNvSpPr/>
          <p:nvPr/>
        </p:nvSpPr>
        <p:spPr>
          <a:xfrm>
            <a:off x="5715000" y="1490472"/>
            <a:ext cx="2971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026" name="Picture 2" descr="Logarithmic Transformation — Most Popular, Least Understood | by Tarun @  DataMantra | Medium">
            <a:extLst>
              <a:ext uri="{FF2B5EF4-FFF2-40B4-BE49-F238E27FC236}">
                <a16:creationId xmlns:a16="http://schemas.microsoft.com/office/drawing/2014/main" id="{EA5ACB16-23DC-56C7-2D10-ED9473072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01" y="1148728"/>
            <a:ext cx="7279353" cy="343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111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ADC3D-C673-C584-9D6F-D05E12AF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718BC3-847C-969B-E495-E3C034A7AE8A}"/>
              </a:ext>
            </a:extLst>
          </p:cNvPr>
          <p:cNvSpPr/>
          <p:nvPr/>
        </p:nvSpPr>
        <p:spPr>
          <a:xfrm>
            <a:off x="244690" y="105145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</a:t>
            </a:r>
            <a:endParaRPr lang="en-US" sz="36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F7C5AA8D-608F-6F59-4BD1-D951E1E791B0}"/>
              </a:ext>
            </a:extLst>
          </p:cNvPr>
          <p:cNvSpPr/>
          <p:nvPr/>
        </p:nvSpPr>
        <p:spPr>
          <a:xfrm>
            <a:off x="5715000" y="105156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2A665BAD-CBF8-7408-D5CE-5B4C07A7D5E2}"/>
              </a:ext>
            </a:extLst>
          </p:cNvPr>
          <p:cNvSpPr/>
          <p:nvPr/>
        </p:nvSpPr>
        <p:spPr>
          <a:xfrm>
            <a:off x="5715000" y="1490472"/>
            <a:ext cx="2971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F9D40-D378-6A79-D429-74FC07518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95" t="3668" r="9015"/>
          <a:stretch>
            <a:fillRect/>
          </a:stretch>
        </p:blipFill>
        <p:spPr>
          <a:xfrm>
            <a:off x="1886673" y="852982"/>
            <a:ext cx="5370653" cy="410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30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3254561" y="1456944"/>
            <a:ext cx="1115568" cy="2560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516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1673" y="2462784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257" y="1456944"/>
            <a:ext cx="1115568" cy="2560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1151441" y="1621536"/>
            <a:ext cx="457200" cy="4572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1151441" y="162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5409" y="220675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5409" y="3057144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log to Price_USD to reduce skewness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37825" y="2462784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038409" y="1456944"/>
            <a:ext cx="1115568" cy="2560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2367593" y="1621536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2367593" y="162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11561" y="220675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11561" y="3057144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VehicleAge and KM_per_Year features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3977" y="2462784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583745" y="1621536"/>
            <a:ext cx="457200" cy="4572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 dirty="0"/>
          </a:p>
        </p:txBody>
      </p:sp>
      <p:sp>
        <p:nvSpPr>
          <p:cNvPr id="24" name="Text 22"/>
          <p:cNvSpPr/>
          <p:nvPr/>
        </p:nvSpPr>
        <p:spPr>
          <a:xfrm>
            <a:off x="3583745" y="162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27713" y="220675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Clipping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27713" y="3057144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extreme price values to valid range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70129" y="2462784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470713" y="1456944"/>
            <a:ext cx="1115568" cy="2560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4799897" y="1621536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4799897" y="162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43865" y="220675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43865" y="3057144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+ target + ordinal encoding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86281" y="2462784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686865" y="1456944"/>
            <a:ext cx="1115568" cy="2560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5" name="Shape 33"/>
          <p:cNvSpPr/>
          <p:nvPr/>
        </p:nvSpPr>
        <p:spPr>
          <a:xfrm>
            <a:off x="6016049" y="1621536"/>
            <a:ext cx="457200" cy="4572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Text 34"/>
          <p:cNvSpPr/>
          <p:nvPr/>
        </p:nvSpPr>
        <p:spPr>
          <a:xfrm>
            <a:off x="6016049" y="162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760017" y="220675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017" y="3057144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/ Standard scaler (fit on train only)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02433" y="2462784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903017" y="1456944"/>
            <a:ext cx="1115568" cy="2560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7232201" y="1621536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7232201" y="162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76169" y="220675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76169" y="3057144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train · 15% validation — fixed seed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feed-forward neural network built with Keras/TensorFlow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749040" cy="6217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+ encoded categorical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201625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3749040" cy="621792"/>
          </a:xfrm>
          <a:prstGeom prst="rect">
            <a:avLst/>
          </a:prstGeom>
          <a:solidFill>
            <a:srgbClr val="1B4E6B"/>
          </a:solidFill>
          <a:ln w="12700">
            <a:solidFill>
              <a:srgbClr val="1B4E6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 128  ReLU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 15%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70205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3749040" cy="62179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  64  ReLU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 10%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338785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3749040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  32  ReLU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regularization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407365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33088"/>
            <a:ext cx="3749040" cy="6217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  —  Linear activation (log-price)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389888"/>
            <a:ext cx="406908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453896"/>
            <a:ext cx="329184" cy="3291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02352" y="14538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0" y="1956816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Text 24"/>
          <p:cNvSpPr/>
          <p:nvPr/>
        </p:nvSpPr>
        <p:spPr>
          <a:xfrm>
            <a:off x="4681728" y="20299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355080" y="20299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0" y="2395728"/>
            <a:ext cx="40690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Text 27"/>
          <p:cNvSpPr/>
          <p:nvPr/>
        </p:nvSpPr>
        <p:spPr>
          <a:xfrm>
            <a:off x="4681728" y="2468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355080" y="2468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0" y="2834640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Text 30"/>
          <p:cNvSpPr/>
          <p:nvPr/>
        </p:nvSpPr>
        <p:spPr>
          <a:xfrm>
            <a:off x="4681728" y="29077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355080" y="29077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(in log space)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0" y="3273552"/>
            <a:ext cx="40690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Text 33"/>
          <p:cNvSpPr/>
          <p:nvPr/>
        </p:nvSpPr>
        <p:spPr>
          <a:xfrm>
            <a:off x="4681728" y="33467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35508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0" y="3712464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9" name="Text 36"/>
          <p:cNvSpPr/>
          <p:nvPr/>
        </p:nvSpPr>
        <p:spPr>
          <a:xfrm>
            <a:off x="4681728" y="37856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355080" y="37856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0" y="4151376"/>
            <a:ext cx="40690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2" name="Text 39"/>
          <p:cNvSpPr/>
          <p:nvPr/>
        </p:nvSpPr>
        <p:spPr>
          <a:xfrm>
            <a:off x="4681728" y="42245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355080" y="42245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681728" y="4663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355080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10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572000" y="4946904"/>
            <a:ext cx="406908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EG"/>
          </a:p>
        </p:txBody>
      </p:sp>
      <p:sp>
        <p:nvSpPr>
          <p:cNvPr id="48" name="Shape 45"/>
          <p:cNvSpPr/>
          <p:nvPr/>
        </p:nvSpPr>
        <p:spPr>
          <a:xfrm>
            <a:off x="4572000" y="5029200"/>
            <a:ext cx="406908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EG"/>
          </a:p>
        </p:txBody>
      </p:sp>
      <p:sp>
        <p:nvSpPr>
          <p:cNvPr id="49" name="Text 46"/>
          <p:cNvSpPr/>
          <p:nvPr/>
        </p:nvSpPr>
        <p:spPr>
          <a:xfrm>
            <a:off x="4572000" y="46817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Application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Flask app connecting the trained Keras model to a browser UI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" y="1508760"/>
            <a:ext cx="1920240" cy="2103120"/>
          </a:xfrm>
          <a:prstGeom prst="rect">
            <a:avLst/>
          </a:prstGeom>
          <a:solidFill>
            <a:srgbClr val="1A3260"/>
          </a:solidFill>
          <a:ln w="635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2331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27432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CarPrice_Live_Demo.html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input form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31720" y="237744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32888" y="1508760"/>
            <a:ext cx="1920240" cy="2103120"/>
          </a:xfrm>
          <a:prstGeom prst="rect">
            <a:avLst/>
          </a:prstGeom>
          <a:solidFill>
            <a:srgbClr val="1A3260"/>
          </a:solidFill>
          <a:ln w="635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916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32888" y="2331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32888" y="27432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API endpoint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480560" y="237744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681728" y="1508760"/>
            <a:ext cx="1920240" cy="2103120"/>
          </a:xfrm>
          <a:prstGeom prst="rect">
            <a:avLst/>
          </a:prstGeom>
          <a:solidFill>
            <a:srgbClr val="1A3260"/>
          </a:solidFill>
          <a:ln w="635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6916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81728" y="2331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Model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81728" y="27432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.keras file loaded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server start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629400" y="237744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830568" y="1508760"/>
            <a:ext cx="1920240" cy="2103120"/>
          </a:xfrm>
          <a:prstGeom prst="rect">
            <a:avLst/>
          </a:prstGeom>
          <a:solidFill>
            <a:srgbClr val="1A3260"/>
          </a:solidFill>
          <a:ln w="635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6916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30568" y="2331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Output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30568" y="27432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estimation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4048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7240" y="382219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form: brand, model, year, engine CC, power BHP, fuel type, transmission, owner type &amp; mileage</a:t>
            </a:r>
            <a:endParaRPr lang="en-US" sz="11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33088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77240" y="4114800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 'Predict Price' → instant deep-learning inference via Flask /predict API</a:t>
            </a:r>
            <a:endParaRPr lang="en-US" sz="11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425696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77240" y="440740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batch inference supported:  python srs/inference.py --csv path/to/new_cars.csv</a:t>
            </a:r>
            <a:endParaRPr lang="en-US" sz="11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18304"/>
            <a:ext cx="219456" cy="2194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77240" y="4700016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guaranteed: fixed random seed · leakage-free preprocessing saved with model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114800" cy="4114800"/>
          </a:xfrm>
          <a:prstGeom prst="ellipse">
            <a:avLst/>
          </a:prstGeom>
          <a:solidFill>
            <a:srgbClr val="0A9396">
              <a:alpha val="18000"/>
            </a:srgbClr>
          </a:solidFill>
          <a:ln w="12700">
            <a:solidFill>
              <a:srgbClr val="0A93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EE9B00">
              <a:alpha val="20000"/>
            </a:srgbClr>
          </a:solidFill>
          <a:ln w="12700">
            <a:solidFill>
              <a:srgbClr val="EE9B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657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315468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·  Feature Importance  ·  Error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2AB0B-4225-D916-80F1-57965349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3CBC0F-E80D-6DB0-793A-C17D8BA94EC4}"/>
              </a:ext>
            </a:extLst>
          </p:cNvPr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4DAA5C-D7CE-1341-4C82-9E177003918E}"/>
              </a:ext>
            </a:extLst>
          </p:cNvPr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held-out test set — strong generalisation with minimal overfitting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96828E-ECFB-633E-4DE0-B314BE475797}"/>
              </a:ext>
            </a:extLst>
          </p:cNvPr>
          <p:cNvSpPr/>
          <p:nvPr/>
        </p:nvSpPr>
        <p:spPr>
          <a:xfrm>
            <a:off x="457200" y="2004060"/>
            <a:ext cx="1572768" cy="1737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4013E1-68FD-622B-3F27-248000B6F93D}"/>
              </a:ext>
            </a:extLst>
          </p:cNvPr>
          <p:cNvSpPr/>
          <p:nvPr/>
        </p:nvSpPr>
        <p:spPr>
          <a:xfrm>
            <a:off x="457200" y="20955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73722B-B68B-22E2-12B8-6DF07543CE5C}"/>
              </a:ext>
            </a:extLst>
          </p:cNvPr>
          <p:cNvSpPr/>
          <p:nvPr/>
        </p:nvSpPr>
        <p:spPr>
          <a:xfrm>
            <a:off x="457200" y="24612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0.9899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8EA7B2-1827-34D9-7577-73733B928BF6}"/>
              </a:ext>
            </a:extLst>
          </p:cNvPr>
          <p:cNvSpPr/>
          <p:nvPr/>
        </p:nvSpPr>
        <p:spPr>
          <a:xfrm>
            <a:off x="457200" y="37901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price variance explained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C45AC0-F168-F4DC-4D67-4DEAB406C2A0}"/>
              </a:ext>
            </a:extLst>
          </p:cNvPr>
          <p:cNvSpPr/>
          <p:nvPr/>
        </p:nvSpPr>
        <p:spPr>
          <a:xfrm>
            <a:off x="2167128" y="2004060"/>
            <a:ext cx="1572768" cy="1737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D652D9E-7889-5B5D-16BF-5661ADBCC3C7}"/>
              </a:ext>
            </a:extLst>
          </p:cNvPr>
          <p:cNvSpPr/>
          <p:nvPr/>
        </p:nvSpPr>
        <p:spPr>
          <a:xfrm>
            <a:off x="2167128" y="20955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A4EE875-C47B-2972-D975-1B2104D04D20}"/>
              </a:ext>
            </a:extLst>
          </p:cNvPr>
          <p:cNvSpPr/>
          <p:nvPr/>
        </p:nvSpPr>
        <p:spPr>
          <a:xfrm>
            <a:off x="2167128" y="24612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$1,109.73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E17AE9-8E06-2DE5-A7DC-1C6233004969}"/>
              </a:ext>
            </a:extLst>
          </p:cNvPr>
          <p:cNvSpPr/>
          <p:nvPr/>
        </p:nvSpPr>
        <p:spPr>
          <a:xfrm>
            <a:off x="2167128" y="38054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94E4F56-3B17-3864-A3D2-03FA14C64588}"/>
              </a:ext>
            </a:extLst>
          </p:cNvPr>
          <p:cNvSpPr/>
          <p:nvPr/>
        </p:nvSpPr>
        <p:spPr>
          <a:xfrm>
            <a:off x="3877056" y="2004060"/>
            <a:ext cx="1572768" cy="17373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B84680C-8596-37B6-3F49-AF9576B805FE}"/>
              </a:ext>
            </a:extLst>
          </p:cNvPr>
          <p:cNvSpPr/>
          <p:nvPr/>
        </p:nvSpPr>
        <p:spPr>
          <a:xfrm>
            <a:off x="3877056" y="20955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F9BC72C-42C2-40D7-2CBE-CA2F3AC1DB9D}"/>
              </a:ext>
            </a:extLst>
          </p:cNvPr>
          <p:cNvSpPr/>
          <p:nvPr/>
        </p:nvSpPr>
        <p:spPr>
          <a:xfrm>
            <a:off x="3877056" y="24612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$651.32</a:t>
            </a: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EF11CBA-FD15-80D8-1142-44B3AF4D54F4}"/>
              </a:ext>
            </a:extLst>
          </p:cNvPr>
          <p:cNvSpPr/>
          <p:nvPr/>
        </p:nvSpPr>
        <p:spPr>
          <a:xfrm>
            <a:off x="3877056" y="38054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96E8B39-AB70-39C3-659A-585E0F7D4783}"/>
              </a:ext>
            </a:extLst>
          </p:cNvPr>
          <p:cNvSpPr/>
          <p:nvPr/>
        </p:nvSpPr>
        <p:spPr>
          <a:xfrm>
            <a:off x="5586984" y="2004060"/>
            <a:ext cx="1572768" cy="173736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7C17D9A-45C8-DE26-6421-C4CDD9AC4435}"/>
              </a:ext>
            </a:extLst>
          </p:cNvPr>
          <p:cNvSpPr/>
          <p:nvPr/>
        </p:nvSpPr>
        <p:spPr>
          <a:xfrm>
            <a:off x="5586984" y="20955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9F57464-327F-F1C8-F630-5CAC383E5336}"/>
              </a:ext>
            </a:extLst>
          </p:cNvPr>
          <p:cNvSpPr/>
          <p:nvPr/>
        </p:nvSpPr>
        <p:spPr>
          <a:xfrm>
            <a:off x="5586984" y="24612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5.75%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A81F3E0-FC19-9323-5212-F080A293C988}"/>
              </a:ext>
            </a:extLst>
          </p:cNvPr>
          <p:cNvSpPr/>
          <p:nvPr/>
        </p:nvSpPr>
        <p:spPr>
          <a:xfrm>
            <a:off x="5586984" y="38054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Percentage Error</a:t>
            </a:r>
            <a:endParaRPr lang="en-US" sz="9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45E173C-E426-1544-D2D3-6D44514CA565}"/>
              </a:ext>
            </a:extLst>
          </p:cNvPr>
          <p:cNvSpPr/>
          <p:nvPr/>
        </p:nvSpPr>
        <p:spPr>
          <a:xfrm>
            <a:off x="7296912" y="2004060"/>
            <a:ext cx="1572768" cy="1737360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4A8A5C2-8292-6D36-A614-77F30148FCA3}"/>
              </a:ext>
            </a:extLst>
          </p:cNvPr>
          <p:cNvSpPr/>
          <p:nvPr/>
        </p:nvSpPr>
        <p:spPr>
          <a:xfrm>
            <a:off x="7296912" y="20955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NRMSE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63E1815-7DCD-A3EF-0C6B-5652B6AF6E8D}"/>
              </a:ext>
            </a:extLst>
          </p:cNvPr>
          <p:cNvSpPr/>
          <p:nvPr/>
        </p:nvSpPr>
        <p:spPr>
          <a:xfrm>
            <a:off x="7296912" y="24612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0.0157</a:t>
            </a:r>
            <a:endParaRPr lang="en-US" sz="2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D30EC0D-87AF-3777-98CF-FB5FB62A30AF}"/>
              </a:ext>
            </a:extLst>
          </p:cNvPr>
          <p:cNvSpPr/>
          <p:nvPr/>
        </p:nvSpPr>
        <p:spPr>
          <a:xfrm>
            <a:off x="7296912" y="38054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RMSE (very low)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033074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92608" y="1325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" y="169164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0.9899</a:t>
            </a:r>
            <a:endParaRPr lang="en-US" sz="2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8927DB-5414-4D58-A0FF-54D2A50AB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8159"/>
            <a:ext cx="9144000" cy="32586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(drop in R²)  —  Vehicle Age &amp; Model are the dominant predictors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035040" y="1325880"/>
            <a:ext cx="265176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3"/>
          <p:cNvSpPr/>
          <p:nvPr/>
        </p:nvSpPr>
        <p:spPr>
          <a:xfrm>
            <a:off x="603504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892808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6035040" y="1892808"/>
            <a:ext cx="54864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Text 6"/>
          <p:cNvSpPr/>
          <p:nvPr/>
        </p:nvSpPr>
        <p:spPr>
          <a:xfrm>
            <a:off x="6163056" y="19293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63056" y="21488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predictor — R² drops 0.58 when removed. Older cars depreciate significantly.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2514600"/>
            <a:ext cx="265176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Shape 9"/>
          <p:cNvSpPr/>
          <p:nvPr/>
        </p:nvSpPr>
        <p:spPr>
          <a:xfrm>
            <a:off x="6035040" y="2514600"/>
            <a:ext cx="54864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0"/>
          <p:cNvSpPr/>
          <p:nvPr/>
        </p:nvSpPr>
        <p:spPr>
          <a:xfrm>
            <a:off x="6163056" y="255117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63056" y="2770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Target-encoded model captures brand prestige and model-specific market value.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0" y="313639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Shape 13"/>
          <p:cNvSpPr/>
          <p:nvPr/>
        </p:nvSpPr>
        <p:spPr>
          <a:xfrm>
            <a:off x="6035040" y="3136392"/>
            <a:ext cx="54864" cy="566928"/>
          </a:xfrm>
          <a:prstGeom prst="rect">
            <a:avLst/>
          </a:prstGeom>
          <a:solidFill>
            <a:srgbClr val="0D7A5A"/>
          </a:solidFill>
          <a:ln w="12700">
            <a:solidFill>
              <a:srgbClr val="0D7A5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6163056" y="31729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Driven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63056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mileage is the 3rd strongest signal, reflecting wear and remaining lifespan.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35040" y="3758184"/>
            <a:ext cx="265176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Shape 17"/>
          <p:cNvSpPr/>
          <p:nvPr/>
        </p:nvSpPr>
        <p:spPr>
          <a:xfrm>
            <a:off x="6035040" y="3758184"/>
            <a:ext cx="54864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8"/>
          <p:cNvSpPr/>
          <p:nvPr/>
        </p:nvSpPr>
        <p:spPr>
          <a:xfrm>
            <a:off x="6163056" y="37947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Type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63056" y="40142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previous owners affects perceived vehicle condition and trust.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35040" y="4379976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Shape 21"/>
          <p:cNvSpPr/>
          <p:nvPr/>
        </p:nvSpPr>
        <p:spPr>
          <a:xfrm>
            <a:off x="6035040" y="4379976"/>
            <a:ext cx="54864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2"/>
          <p:cNvSpPr/>
          <p:nvPr/>
        </p:nvSpPr>
        <p:spPr>
          <a:xfrm>
            <a:off x="6163056" y="44165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Dummies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163056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Hyundai, Kia, Ford, Mercedes each contribute modestly; electric fuel type is a growing signal.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0B1164C-19CB-5722-DF79-1A0F825A1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" y="1254252"/>
            <a:ext cx="5713476" cy="3764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&amp; Bias–Variance Analysis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40680" y="100584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0" name="Shape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 the model predicts within  5.75% MAPE  of the actual price — reliable enough for real-world pricing decisions.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3AD672-C4C6-0985-038E-10561B263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840"/>
            <a:ext cx="9144000" cy="32257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13D1-9EB1-24C3-CA62-176CC3D8F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6C61E5-3ABD-1595-813E-37FD6B453C93}"/>
              </a:ext>
            </a:extLst>
          </p:cNvPr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&amp; Bias–Variance Analysis</a:t>
            </a:r>
            <a:endParaRPr lang="en-US" sz="3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6CC743A-76B8-9B63-183D-32A5540002F5}"/>
              </a:ext>
            </a:extLst>
          </p:cNvPr>
          <p:cNvSpPr/>
          <p:nvPr/>
        </p:nvSpPr>
        <p:spPr>
          <a:xfrm>
            <a:off x="5440680" y="100584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CF412EE-B8A2-E331-A0D4-24D925A2D9CB}"/>
              </a:ext>
            </a:extLst>
          </p:cNvPr>
          <p:cNvSpPr/>
          <p:nvPr/>
        </p:nvSpPr>
        <p:spPr>
          <a:xfrm>
            <a:off x="502921" y="1033272"/>
            <a:ext cx="64008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8DDC849-2592-68CD-C44B-C32374AFB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3" y="1380744"/>
            <a:ext cx="274320" cy="27432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A94AF62C-2656-6B1E-2AA7-77FC3BFFD715}"/>
              </a:ext>
            </a:extLst>
          </p:cNvPr>
          <p:cNvSpPr/>
          <p:nvPr/>
        </p:nvSpPr>
        <p:spPr>
          <a:xfrm>
            <a:off x="1005841" y="11064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A90C8A2-03E8-5A45-6BC4-F8FC42A00B80}"/>
              </a:ext>
            </a:extLst>
          </p:cNvPr>
          <p:cNvSpPr/>
          <p:nvPr/>
        </p:nvSpPr>
        <p:spPr>
          <a:xfrm>
            <a:off x="1005840" y="1453896"/>
            <a:ext cx="50063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gap between training and test performance confirms excellent generalisation with minimal overfitting. The model is well-balanced.</a:t>
            </a:r>
            <a:endParaRPr lang="en-US" sz="10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1E0437C-2CCC-8947-FD8B-307A05B3DE97}"/>
              </a:ext>
            </a:extLst>
          </p:cNvPr>
          <p:cNvSpPr/>
          <p:nvPr/>
        </p:nvSpPr>
        <p:spPr>
          <a:xfrm>
            <a:off x="502921" y="2176272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B84611C-720E-EAB7-ED87-129F6D98A0FB}"/>
              </a:ext>
            </a:extLst>
          </p:cNvPr>
          <p:cNvSpPr/>
          <p:nvPr/>
        </p:nvSpPr>
        <p:spPr>
          <a:xfrm>
            <a:off x="502921" y="2176272"/>
            <a:ext cx="64008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8D28375E-97D2-DB75-0EED-3DFD97BEA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3" y="2523744"/>
            <a:ext cx="274320" cy="27432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3C996847-FFED-C124-B3FC-7774C0822659}"/>
              </a:ext>
            </a:extLst>
          </p:cNvPr>
          <p:cNvSpPr/>
          <p:nvPr/>
        </p:nvSpPr>
        <p:spPr>
          <a:xfrm>
            <a:off x="1005841" y="22494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Patterns</a:t>
            </a:r>
            <a:endParaRPr lang="en-US" sz="13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9CA03D9-D708-797D-6970-CF6CB441573F}"/>
              </a:ext>
            </a:extLst>
          </p:cNvPr>
          <p:cNvSpPr/>
          <p:nvPr/>
        </p:nvSpPr>
        <p:spPr>
          <a:xfrm>
            <a:off x="1005840" y="2596896"/>
            <a:ext cx="51587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error observed for luxury vehicles. Increased variance in the high-price segment (&gt;$50K). Limited coverage of rare models.</a:t>
            </a:r>
            <a:endParaRPr lang="en-US" sz="105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13392560-38C1-D397-0929-1B134850D898}"/>
              </a:ext>
            </a:extLst>
          </p:cNvPr>
          <p:cNvSpPr/>
          <p:nvPr/>
        </p:nvSpPr>
        <p:spPr>
          <a:xfrm>
            <a:off x="502921" y="3319272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BCC4EB82-AD8D-057F-3EBD-F4A6FF4F6FD7}"/>
              </a:ext>
            </a:extLst>
          </p:cNvPr>
          <p:cNvSpPr/>
          <p:nvPr/>
        </p:nvSpPr>
        <p:spPr>
          <a:xfrm>
            <a:off x="502921" y="3319272"/>
            <a:ext cx="64008" cy="10058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2D651A05-4809-0603-6046-932E5613D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3" y="3666744"/>
            <a:ext cx="274320" cy="27432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BE71B9E0-A31D-AF4E-68B1-F843771ED0B1}"/>
              </a:ext>
            </a:extLst>
          </p:cNvPr>
          <p:cNvSpPr/>
          <p:nvPr/>
        </p:nvSpPr>
        <p:spPr>
          <a:xfrm>
            <a:off x="1005841" y="33924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Distribution</a:t>
            </a:r>
            <a:endParaRPr lang="en-US" sz="13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7C12C36-CDCE-735B-995B-BEFDA0DFE57C}"/>
              </a:ext>
            </a:extLst>
          </p:cNvPr>
          <p:cNvSpPr/>
          <p:nvPr/>
        </p:nvSpPr>
        <p:spPr>
          <a:xfrm>
            <a:off x="1005840" y="3739896"/>
            <a:ext cx="5273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approximately normally distributed and centred near zero — confirming the model captures the main pricing signal.</a:t>
            </a:r>
            <a:endParaRPr lang="en-US" sz="105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D3F6B270-CD31-9976-923F-C4DF995A8E3B}"/>
              </a:ext>
            </a:extLst>
          </p:cNvPr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889DF821-F232-484E-7CF2-B5A9E5BC0DDB}"/>
              </a:ext>
            </a:extLst>
          </p:cNvPr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 the model predicts within  5.75% MAPE  of the actual price — reliable enough for real-world pricing decisions.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69270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Future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we'd do differently, and where we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481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8424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938528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(15%/10%) significantly reduced overfitting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2441448"/>
            <a:ext cx="397764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05456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45973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Log-space MSE loss stabilised optimisation of skewed prices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2962656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26664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2980944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for Model preserved price signal without explosion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57200" y="3483864"/>
            <a:ext cx="397764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47872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3502152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pipeline ensured honest evaluation metrics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663440" y="1417320"/>
            <a:ext cx="3977640" cy="4572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481328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1481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4663440" y="1920240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84248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20640" y="1938528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dataset (~3K records) constrained model capacity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4663440" y="2441448"/>
            <a:ext cx="397764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505456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20640" y="245973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 brand/model features required careful encoding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4663440" y="2962656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26664"/>
            <a:ext cx="228600" cy="2286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20640" y="2980944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luxury prices increased variance in high-price segment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4663440" y="3483864"/>
            <a:ext cx="397764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47872"/>
            <a:ext cx="228600" cy="2286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120640" y="3502152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was time-intensive without an automated scheduler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457200" y="4160520"/>
            <a:ext cx="8229600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5" name="Text 23"/>
          <p:cNvSpPr/>
          <p:nvPr/>
        </p:nvSpPr>
        <p:spPr>
          <a:xfrm>
            <a:off x="566928" y="41605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100" dirty="0"/>
          </a:p>
        </p:txBody>
      </p:sp>
      <p:sp>
        <p:nvSpPr>
          <p:cNvPr id="36" name="Text 24"/>
          <p:cNvSpPr/>
          <p:nvPr/>
        </p:nvSpPr>
        <p:spPr>
          <a:xfrm>
            <a:off x="1664208" y="4160520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 XGBoost &amp; LightGBM   ·   Explore Transformer-based tabular models   ·   Add uncertainty estimation   ·   Deploy via FastAPI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743200"/>
            <a:ext cx="4114800" cy="4114800"/>
          </a:xfrm>
          <a:prstGeom prst="ellipse">
            <a:avLst/>
          </a:prstGeom>
          <a:solidFill>
            <a:srgbClr val="0A9396">
              <a:alpha val="18000"/>
            </a:srgbClr>
          </a:solidFill>
          <a:ln w="12700">
            <a:solidFill>
              <a:srgbClr val="0A93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EE9B00">
              <a:alpha val="20000"/>
            </a:srgbClr>
          </a:solidFill>
          <a:ln w="12700">
            <a:solidFill>
              <a:srgbClr val="EE9B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2286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383280" y="2084832"/>
            <a:ext cx="237744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8094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" y="29077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78408" y="3273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data-driven pricing for buyers, sellers &amp; platforms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4223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8408" y="4069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Solution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78408" y="4434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DNN + Flask app + CLI inference · Keras / TensorFlow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98094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76088" y="29077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276088" y="3273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0.9899  ·  MAE = $651.32  ·  MAPE = 5.75%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142232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76088" y="4069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276088" y="4434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Log-space loss + Dropout + leakage-free pipeline = robust model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1212</Words>
  <Application>Microsoft Office PowerPoint</Application>
  <PresentationFormat>On-screen Show (16:9)</PresentationFormat>
  <Paragraphs>276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Price Prediction Using Deep Learning</dc:title>
  <dc:subject>PptxGenJS Presentation</dc:subject>
  <dc:creator>PptxGenJS</dc:creator>
  <cp:lastModifiedBy>tasbih neamatalla</cp:lastModifiedBy>
  <cp:revision>3</cp:revision>
  <dcterms:created xsi:type="dcterms:W3CDTF">2026-05-13T19:54:06Z</dcterms:created>
  <dcterms:modified xsi:type="dcterms:W3CDTF">2026-05-14T10:12:52Z</dcterms:modified>
</cp:coreProperties>
</file>