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74" r:id="rId10"/>
    <p:sldId id="262" r:id="rId11"/>
    <p:sldId id="263" r:id="rId12"/>
    <p:sldId id="264" r:id="rId13"/>
    <p:sldId id="265" r:id="rId14"/>
    <p:sldId id="276" r:id="rId15"/>
    <p:sldId id="277" r:id="rId16"/>
    <p:sldId id="266" r:id="rId17"/>
    <p:sldId id="268" r:id="rId18"/>
    <p:sldId id="275" r:id="rId19"/>
    <p:sldId id="269" r:id="rId20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6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762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95A1-0D3F-E75E-1787-6C1ABA8B8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80F31-9D8B-E97B-1A9D-016C693F1A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E52CA-9252-DB50-B5A9-02A350888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0A8CF-095E-9AC3-5AF3-274A91130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67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635DE-455C-9F6C-4A1A-4096877AD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5005F-55E7-2DDB-ED05-1415478EE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75FB7-66EE-4534-5A7D-20AB1C358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30458-B583-C4E4-B4E8-B0CB3D98F6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933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A1F9-30C6-4643-79A8-89BA61A6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1E1E4-C000-8250-3360-7731185D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7FF8C-E108-5359-511E-503F12646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E1E4E-4A4D-A5B9-1DED-3727F9740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59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B1E39-F7F0-F82C-F309-885629B6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986EF-4D94-0311-2872-56B9C5BD4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3EC3-1E7A-8E36-71AE-83BB02236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0E734-481C-0C95-079C-D8C6BBC76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435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363FF-C3EE-9A28-F659-8267612A6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33A40-7548-0D05-0EF8-CC1B42993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884E2-53CE-D324-7633-FAA7A733D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3F1CC-8A76-D7BA-CCFC-986FD5909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195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78B61-8F1C-1682-6E8C-33DBA1092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A90CFC-2067-EF22-81A6-A26B6EABB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E3CCA-CE51-CB01-96F8-89A58208D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50670-5A37-A8FF-F3D9-0B9E214D76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166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0A9396">
              <a:alpha val="25000"/>
            </a:srgbClr>
          </a:solidFill>
          <a:ln w="12700">
            <a:solidFill>
              <a:srgbClr val="0A939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011680" cy="201168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-457200" y="3657600"/>
            <a:ext cx="2286000" cy="2286000"/>
          </a:xfrm>
          <a:prstGeom prst="ellipse">
            <a:avLst/>
          </a:prstGeom>
          <a:solidFill>
            <a:srgbClr val="0A9396">
              <a:alpha val="15000"/>
            </a:srgbClr>
          </a:solidFill>
          <a:ln w="12700">
            <a:solidFill>
              <a:srgbClr val="0A9396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22960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4447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Price Prediction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176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Deep Learning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2011680" cy="502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457200" y="3035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433  —  Emerging Topics in CS &amp; Engineering: Deep Learning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 Assoc. Prof. Dr. Mohammed Kamal Abdel Salam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 Elsalhy  ·  120220093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Shiref Ashraf  ·  120220099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Nagah  ·  120220116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5488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Tasbih Othman  ·  120220117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Mazroua  ·  120220118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5488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Yasmeen Sameh  ·  120220143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E-JUST  |  May 13,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74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20700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0700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objectives &amp; who benefits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8328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0700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20700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preprocessing, model &amp; web app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2"/>
          <p:cNvSpPr/>
          <p:nvPr/>
        </p:nvSpPr>
        <p:spPr>
          <a:xfrm>
            <a:off x="475488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73736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550468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50468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metrics, feature importance &amp; error analysis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2" name="Shape 17"/>
          <p:cNvSpPr/>
          <p:nvPr/>
        </p:nvSpPr>
        <p:spPr>
          <a:xfrm>
            <a:off x="475488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38328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77240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19"/>
          <p:cNvSpPr/>
          <p:nvPr/>
        </p:nvSpPr>
        <p:spPr>
          <a:xfrm>
            <a:off x="550468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550468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future improvements &amp; conclusion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used car pricing so difficult?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840480" cy="33832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27632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Car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Challenge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914400" y="2944368"/>
            <a:ext cx="2926080" cy="457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59436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pricing depends on many interconnected variables, making manual estimation difficult and inconsistent.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4005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pricing leads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loss for both buyers &amp; sellers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417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8"/>
          <p:cNvSpPr/>
          <p:nvPr/>
        </p:nvSpPr>
        <p:spPr>
          <a:xfrm>
            <a:off x="4617720" y="1417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9"/>
          <p:cNvSpPr/>
          <p:nvPr/>
        </p:nvSpPr>
        <p:spPr>
          <a:xfrm>
            <a:off x="4800600" y="1508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Asymmetry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00600" y="1847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can't tell if a listed price is fair; sellers lack benchmarks to price competitively.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17720" y="2560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12"/>
          <p:cNvSpPr/>
          <p:nvPr/>
        </p:nvSpPr>
        <p:spPr>
          <a:xfrm>
            <a:off x="4617720" y="2560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6" name="Text 13"/>
          <p:cNvSpPr/>
          <p:nvPr/>
        </p:nvSpPr>
        <p:spPr>
          <a:xfrm>
            <a:off x="4800600" y="2651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Variables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00600" y="2990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mileage, brand, fuel type, ownership history — humans cannot process them simultaneously.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617720" y="3703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9" name="Shape 16"/>
          <p:cNvSpPr/>
          <p:nvPr/>
        </p:nvSpPr>
        <p:spPr>
          <a:xfrm>
            <a:off x="4617720" y="3703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Text 17"/>
          <p:cNvSpPr/>
          <p:nvPr/>
        </p:nvSpPr>
        <p:spPr>
          <a:xfrm>
            <a:off x="4800600" y="3794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Methods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00600" y="4133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pricing relies on manual estimates, historical averages, or subjective judgment.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delivers impact across the entire used-car ecosystem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60604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15544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Buyers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74320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 verify if an asking price is fair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383280"/>
            <a:ext cx="246888" cy="2468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model predictions before purchase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023360"/>
            <a:ext cx="246888" cy="2468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5097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confident, data-backed decisions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29184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9"/>
          <p:cNvSpPr/>
          <p:nvPr/>
        </p:nvSpPr>
        <p:spPr>
          <a:xfrm>
            <a:off x="3291840" y="1481328"/>
            <a:ext cx="260604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1554480"/>
            <a:ext cx="438912" cy="43891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40156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&amp; Dealerships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743200"/>
            <a:ext cx="246888" cy="24688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378561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vehicles competitively from day one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3383280"/>
            <a:ext cx="246888" cy="24688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78561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time-on-lot with accurate listings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4023360"/>
            <a:ext cx="246888" cy="24688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78561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 profit with market-aligned pricing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12648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5" name="Shape 15"/>
          <p:cNvSpPr/>
          <p:nvPr/>
        </p:nvSpPr>
        <p:spPr>
          <a:xfrm>
            <a:off x="6126480" y="1481328"/>
            <a:ext cx="2606040" cy="658368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2" y="1554480"/>
            <a:ext cx="438912" cy="43891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23620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Platforms</a:t>
            </a:r>
            <a:endParaRPr lang="en-US" sz="13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743200"/>
            <a:ext cx="246888" cy="24688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662025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into online car-selling platforms</a:t>
            </a:r>
            <a:endParaRPr lang="en-US" sz="11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383280"/>
            <a:ext cx="246888" cy="246888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662025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dealership inventory pricing systems</a:t>
            </a:r>
            <a:endParaRPr lang="en-US" sz="11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23360"/>
            <a:ext cx="246888" cy="246888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662025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insurance &amp; financing valuation</a:t>
            </a:r>
            <a:endParaRPr lang="en-US" sz="1100" dirty="0"/>
          </a:p>
        </p:txBody>
      </p:sp>
      <p:sp>
        <p:nvSpPr>
          <p:cNvPr id="34" name="Shape 2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Objectives:   Develop an intelligent system  ·  Analyze pricing factors  ·  Build a complete DL pipeline  ·  Scalable for real-world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·  Preprocessing  ·  Model Architecture  ·  Web App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 used car records with structured numerical and categorical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0292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74520" y="10515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10515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90472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02920" y="149047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74520" y="149047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71800" y="1490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manufacturer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37944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02920" y="183794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874520" y="183794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18379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model (target encoded)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02920" y="218541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74520" y="218541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71800" y="21854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year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32888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02920" y="253288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Engine_CC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74520" y="25328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71800" y="25328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displacement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502920" y="288036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Power_BHP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874520" y="288036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7180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power output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227832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Text 27"/>
          <p:cNvSpPr/>
          <p:nvPr/>
        </p:nvSpPr>
        <p:spPr>
          <a:xfrm>
            <a:off x="502920" y="322783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Fuel_Type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874520" y="32278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971800" y="32278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type (one-hot)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75304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502920" y="357530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74520" y="357530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71800" y="3575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type (one-hot)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922776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7" name="Text 35"/>
          <p:cNvSpPr/>
          <p:nvPr/>
        </p:nvSpPr>
        <p:spPr>
          <a:xfrm>
            <a:off x="502920" y="392277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874520" y="392277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971800" y="3922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previous owners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270248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Text 39"/>
          <p:cNvSpPr/>
          <p:nvPr/>
        </p:nvSpPr>
        <p:spPr>
          <a:xfrm>
            <a:off x="502920" y="427024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KM_Driven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874520" y="427024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71800" y="42702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driven kilometers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4617720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5" name="Text 43"/>
          <p:cNvSpPr/>
          <p:nvPr/>
        </p:nvSpPr>
        <p:spPr>
          <a:xfrm>
            <a:off x="502920" y="461772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Price_USD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874520" y="461772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71800" y="4617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vehicle selling price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9" name="Text 47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1" name="Text 49"/>
          <p:cNvSpPr/>
          <p:nvPr/>
        </p:nvSpPr>
        <p:spPr>
          <a:xfrm>
            <a:off x="5852160" y="1581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852160" y="1901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VehicleAge  =  2024 − Year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852160" y="2176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KM_per_Year  =  KM_Driven / (VehicleAge + 1)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852160" y="24505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on Price_USD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6" name="Text 54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15000" y="3438144"/>
            <a:ext cx="29718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8" name="Text 56"/>
          <p:cNvSpPr/>
          <p:nvPr/>
        </p:nvSpPr>
        <p:spPr>
          <a:xfrm>
            <a:off x="5852160" y="35295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Encoding: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852160" y="37307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Fuel Type, Transmission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852160" y="39593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Encoding: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852160" y="41605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(reduces dimensionality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preserving price signal)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852160" y="43891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Encoding: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5852160" y="45902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27AB3-2902-085B-E481-56B511E41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3A3956-EEDC-2F8A-8E09-6E12B876E7B1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7A271AD-AD22-CD92-69CB-320E989948B4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434B1F33-B2A0-560F-8B9C-02DB1A83284A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16E26789-86A2-EC55-3619-1041F9349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99505"/>
            <a:ext cx="8017090" cy="44165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37CE88C-AEAB-C10A-484B-07F0663B6BC6}"/>
              </a:ext>
            </a:extLst>
          </p:cNvPr>
          <p:cNvSpPr/>
          <p:nvPr/>
        </p:nvSpPr>
        <p:spPr>
          <a:xfrm>
            <a:off x="5715000" y="3038622"/>
            <a:ext cx="2759290" cy="19997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84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22558-6BF6-2220-3DA4-507B37A47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2EEED2-0A6E-10AC-B49D-1F6615AF32E3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559986E8-1A84-B168-4140-0EAD6E935274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AA86A633-C48D-3DB4-44E1-1AAB4D509004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026" name="Picture 2" descr="Logarithmic Transformation — Most Popular, Least Understood | by Tarun @  DataMantra | Medium">
            <a:extLst>
              <a:ext uri="{FF2B5EF4-FFF2-40B4-BE49-F238E27FC236}">
                <a16:creationId xmlns:a16="http://schemas.microsoft.com/office/drawing/2014/main" id="{EA5ACB16-23DC-56C7-2D10-ED94730725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201" y="1148728"/>
            <a:ext cx="7279353" cy="343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111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ADC3D-C673-C584-9D6F-D05E12AF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718BC3-847C-969B-E495-E3C034A7AE8A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F7C5AA8D-608F-6F59-4BD1-D951E1E791B0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2A665BAD-CBF8-7408-D5CE-5B4C07A7D5E2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F9D40-D378-6A79-D429-74FC075188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95" t="3668" r="9015"/>
          <a:stretch>
            <a:fillRect/>
          </a:stretch>
        </p:blipFill>
        <p:spPr>
          <a:xfrm>
            <a:off x="1886673" y="852982"/>
            <a:ext cx="5370653" cy="41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30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0"/>
          <p:cNvSpPr/>
          <p:nvPr/>
        </p:nvSpPr>
        <p:spPr>
          <a:xfrm>
            <a:off x="3254561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11480" y="15163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1673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257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1" name="Shape 9"/>
          <p:cNvSpPr/>
          <p:nvPr/>
        </p:nvSpPr>
        <p:spPr>
          <a:xfrm>
            <a:off x="1151441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1151441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5409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5409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log to Price_USD to reduce skewness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37825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038409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Shape 15"/>
          <p:cNvSpPr/>
          <p:nvPr/>
        </p:nvSpPr>
        <p:spPr>
          <a:xfrm>
            <a:off x="2367593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2367593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11561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11561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VehicleAge and KM_per_Year features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53977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583745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 dirty="0"/>
          </a:p>
        </p:txBody>
      </p:sp>
      <p:sp>
        <p:nvSpPr>
          <p:cNvPr id="24" name="Text 22"/>
          <p:cNvSpPr/>
          <p:nvPr/>
        </p:nvSpPr>
        <p:spPr>
          <a:xfrm>
            <a:off x="3583745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27713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Clipping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27713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extreme price values to valid range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70129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470713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Shape 27"/>
          <p:cNvSpPr/>
          <p:nvPr/>
        </p:nvSpPr>
        <p:spPr>
          <a:xfrm>
            <a:off x="4799897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8"/>
          <p:cNvSpPr/>
          <p:nvPr/>
        </p:nvSpPr>
        <p:spPr>
          <a:xfrm>
            <a:off x="4799897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43865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43865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+ target + ordinal encoding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86281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686865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Shape 33"/>
          <p:cNvSpPr/>
          <p:nvPr/>
        </p:nvSpPr>
        <p:spPr>
          <a:xfrm>
            <a:off x="6016049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4"/>
          <p:cNvSpPr/>
          <p:nvPr/>
        </p:nvSpPr>
        <p:spPr>
          <a:xfrm>
            <a:off x="6016049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760017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Scaling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60017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 / Standard scaler (fit on train only)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02433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6903017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Shape 39"/>
          <p:cNvSpPr/>
          <p:nvPr/>
        </p:nvSpPr>
        <p:spPr>
          <a:xfrm>
            <a:off x="7232201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40"/>
          <p:cNvSpPr/>
          <p:nvPr/>
        </p:nvSpPr>
        <p:spPr>
          <a:xfrm>
            <a:off x="7232201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976169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76169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train · 15% validation — fixed seed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connected feed-forward neural network built with Keras/TensorFlow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749040" cy="62179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+ encoded categorical features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48840" y="20162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749040" cy="621792"/>
          </a:xfrm>
          <a:prstGeom prst="rect">
            <a:avLst/>
          </a:prstGeom>
          <a:solidFill>
            <a:srgbClr val="1B4E6B"/>
          </a:solidFill>
          <a:ln w="12700">
            <a:solidFill>
              <a:srgbClr val="1B4E6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128  ReLU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27020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3749040" cy="62179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9436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64  ReLU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3108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48840" y="33878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3749040" cy="62179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9436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32  ReLU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794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regularization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48840" y="40736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133088"/>
            <a:ext cx="3749040" cy="6217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94360" y="4206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4480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neuron  —  Linear activation (log-price)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1389888"/>
            <a:ext cx="406908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453896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102352" y="145389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0" y="1956816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7" name="Text 24"/>
          <p:cNvSpPr/>
          <p:nvPr/>
        </p:nvSpPr>
        <p:spPr>
          <a:xfrm>
            <a:off x="4681728" y="20299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355080" y="20299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0" y="2395728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7"/>
          <p:cNvSpPr/>
          <p:nvPr/>
        </p:nvSpPr>
        <p:spPr>
          <a:xfrm>
            <a:off x="4681728" y="24688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355080" y="2468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2834640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0"/>
          <p:cNvSpPr/>
          <p:nvPr/>
        </p:nvSpPr>
        <p:spPr>
          <a:xfrm>
            <a:off x="4681728" y="29077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355080" y="29077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(in log space)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0" y="3273552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3"/>
          <p:cNvSpPr/>
          <p:nvPr/>
        </p:nvSpPr>
        <p:spPr>
          <a:xfrm>
            <a:off x="4681728" y="33467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55080" y="33467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72000" y="3712464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9" name="Text 36"/>
          <p:cNvSpPr/>
          <p:nvPr/>
        </p:nvSpPr>
        <p:spPr>
          <a:xfrm>
            <a:off x="4681728" y="378561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55080" y="37856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0" y="4151376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39"/>
          <p:cNvSpPr/>
          <p:nvPr/>
        </p:nvSpPr>
        <p:spPr>
          <a:xfrm>
            <a:off x="4681728" y="42245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Split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6355080" y="42245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4681728" y="4663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355080" y="4663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10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4572000" y="4946904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8" name="Shape 45"/>
          <p:cNvSpPr/>
          <p:nvPr/>
        </p:nvSpPr>
        <p:spPr>
          <a:xfrm>
            <a:off x="4572000" y="5029200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9" name="Text 46"/>
          <p:cNvSpPr/>
          <p:nvPr/>
        </p:nvSpPr>
        <p:spPr>
          <a:xfrm>
            <a:off x="4572000" y="468172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Application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Flask app connecting the trained Keras model to a browser UI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8404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8404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CarPrice_Live_Demo.html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input form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3172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3288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69164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3288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Server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53288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 API endpoint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48056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68172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1691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8172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Model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8172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.keras file 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server start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662940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83056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6916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3056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Output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83056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USD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estimation</a:t>
            </a:r>
            <a:endParaRPr lang="en-US" sz="10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840480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77240" y="3822192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form: brand, model, year, engine CC, power BHP, fuel type, transmission, owner type &amp; mileage</a:t>
            </a:r>
            <a:endParaRPr lang="en-US" sz="11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33088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77240" y="4114800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Single-click 'Predict Price' → instant deep-learning inference via Flask /predict API</a:t>
            </a:r>
            <a:endParaRPr lang="en-US" sz="115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425696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77240" y="4407408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batch inference supported:  python srs/inference.py --csv path/to/new_cars.csv</a:t>
            </a:r>
            <a:endParaRPr lang="en-US" sz="115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8304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77240" y="4700016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guaranteed: fixed random seed · leakage-free preprocessing saved with model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 ·  Feature Importance  ·  Error Analysis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2AB0B-4225-D916-80F1-57965349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3CBC0F-E80D-6DB0-793A-C17D8BA94EC4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4DAA5C-D7CE-1341-4C82-9E177003918E}"/>
              </a:ext>
            </a:extLst>
          </p:cNvPr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held-out test set — strong generalisation with minimal overfitting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C96828E-ECFB-633E-4DE0-B314BE475797}"/>
              </a:ext>
            </a:extLst>
          </p:cNvPr>
          <p:cNvSpPr/>
          <p:nvPr/>
        </p:nvSpPr>
        <p:spPr>
          <a:xfrm>
            <a:off x="386861" y="1289304"/>
            <a:ext cx="1572768" cy="173736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4013E1-68FD-622B-3F27-248000B6F93D}"/>
              </a:ext>
            </a:extLst>
          </p:cNvPr>
          <p:cNvSpPr/>
          <p:nvPr/>
        </p:nvSpPr>
        <p:spPr>
          <a:xfrm>
            <a:off x="386861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73722B-B68B-22E2-12B8-6DF07543CE5C}"/>
              </a:ext>
            </a:extLst>
          </p:cNvPr>
          <p:cNvSpPr/>
          <p:nvPr/>
        </p:nvSpPr>
        <p:spPr>
          <a:xfrm>
            <a:off x="386861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C8EA7B2-1827-34D9-7577-73733B928BF6}"/>
              </a:ext>
            </a:extLst>
          </p:cNvPr>
          <p:cNvSpPr/>
          <p:nvPr/>
        </p:nvSpPr>
        <p:spPr>
          <a:xfrm>
            <a:off x="386861" y="307543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of price variance explained</a:t>
            </a:r>
            <a:endParaRPr lang="en-US" sz="9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BC45AC0-F168-F4DC-4D67-4DEAB406C2A0}"/>
              </a:ext>
            </a:extLst>
          </p:cNvPr>
          <p:cNvSpPr/>
          <p:nvPr/>
        </p:nvSpPr>
        <p:spPr>
          <a:xfrm>
            <a:off x="2096789" y="1289304"/>
            <a:ext cx="1572768" cy="17373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D652D9E-7889-5B5D-16BF-5661ADBCC3C7}"/>
              </a:ext>
            </a:extLst>
          </p:cNvPr>
          <p:cNvSpPr/>
          <p:nvPr/>
        </p:nvSpPr>
        <p:spPr>
          <a:xfrm>
            <a:off x="2096789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A4EE875-C47B-2972-D975-1B2104D04D20}"/>
              </a:ext>
            </a:extLst>
          </p:cNvPr>
          <p:cNvSpPr/>
          <p:nvPr/>
        </p:nvSpPr>
        <p:spPr>
          <a:xfrm>
            <a:off x="2096789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$1,109.73</a:t>
            </a:r>
            <a:endParaRPr lang="en-US" sz="2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8E17AE9-8E06-2DE5-A7DC-1C6233004969}"/>
              </a:ext>
            </a:extLst>
          </p:cNvPr>
          <p:cNvSpPr/>
          <p:nvPr/>
        </p:nvSpPr>
        <p:spPr>
          <a:xfrm>
            <a:off x="2096789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9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94E4F56-3B17-3864-A3D2-03FA14C64588}"/>
              </a:ext>
            </a:extLst>
          </p:cNvPr>
          <p:cNvSpPr/>
          <p:nvPr/>
        </p:nvSpPr>
        <p:spPr>
          <a:xfrm>
            <a:off x="3806717" y="1289304"/>
            <a:ext cx="1572768" cy="173736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84680C-8596-37B6-3F49-AF9576B805FE}"/>
              </a:ext>
            </a:extLst>
          </p:cNvPr>
          <p:cNvSpPr/>
          <p:nvPr/>
        </p:nvSpPr>
        <p:spPr>
          <a:xfrm>
            <a:off x="3806717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9BC72C-42C2-40D7-2CBE-CA2F3AC1DB9D}"/>
              </a:ext>
            </a:extLst>
          </p:cNvPr>
          <p:cNvSpPr/>
          <p:nvPr/>
        </p:nvSpPr>
        <p:spPr>
          <a:xfrm>
            <a:off x="3806717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$651.32</a:t>
            </a:r>
            <a:endParaRPr lang="en-US" sz="2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EF11CBA-FD15-80D8-1142-44B3AF4D54F4}"/>
              </a:ext>
            </a:extLst>
          </p:cNvPr>
          <p:cNvSpPr/>
          <p:nvPr/>
        </p:nvSpPr>
        <p:spPr>
          <a:xfrm>
            <a:off x="3806717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96E8B39-AB70-39C3-659A-585E0F7D4783}"/>
              </a:ext>
            </a:extLst>
          </p:cNvPr>
          <p:cNvSpPr/>
          <p:nvPr/>
        </p:nvSpPr>
        <p:spPr>
          <a:xfrm>
            <a:off x="5516645" y="1289304"/>
            <a:ext cx="1572768" cy="173736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7C17D9A-45C8-DE26-6421-C4CDD9AC4435}"/>
              </a:ext>
            </a:extLst>
          </p:cNvPr>
          <p:cNvSpPr/>
          <p:nvPr/>
        </p:nvSpPr>
        <p:spPr>
          <a:xfrm>
            <a:off x="5516645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F57464-327F-F1C8-F630-5CAC383E5336}"/>
              </a:ext>
            </a:extLst>
          </p:cNvPr>
          <p:cNvSpPr/>
          <p:nvPr/>
        </p:nvSpPr>
        <p:spPr>
          <a:xfrm>
            <a:off x="5516645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2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A81F3E0-FC19-9323-5212-F080A293C988}"/>
              </a:ext>
            </a:extLst>
          </p:cNvPr>
          <p:cNvSpPr/>
          <p:nvPr/>
        </p:nvSpPr>
        <p:spPr>
          <a:xfrm>
            <a:off x="5516645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9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45E173C-E426-1544-D2D3-6D44514CA565}"/>
              </a:ext>
            </a:extLst>
          </p:cNvPr>
          <p:cNvSpPr/>
          <p:nvPr/>
        </p:nvSpPr>
        <p:spPr>
          <a:xfrm>
            <a:off x="7226573" y="1289304"/>
            <a:ext cx="1572768" cy="1737360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4A8A5C2-8292-6D36-A614-77F30148FCA3}"/>
              </a:ext>
            </a:extLst>
          </p:cNvPr>
          <p:cNvSpPr/>
          <p:nvPr/>
        </p:nvSpPr>
        <p:spPr>
          <a:xfrm>
            <a:off x="7226573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NRMSE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63E1815-7DCD-A3EF-0C6B-5652B6AF6E8D}"/>
              </a:ext>
            </a:extLst>
          </p:cNvPr>
          <p:cNvSpPr/>
          <p:nvPr/>
        </p:nvSpPr>
        <p:spPr>
          <a:xfrm>
            <a:off x="7226573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0.0157</a:t>
            </a:r>
            <a:endParaRPr lang="en-US" sz="2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D30EC0D-87AF-3777-98CF-FB5FB62A30AF}"/>
              </a:ext>
            </a:extLst>
          </p:cNvPr>
          <p:cNvSpPr/>
          <p:nvPr/>
        </p:nvSpPr>
        <p:spPr>
          <a:xfrm>
            <a:off x="7226573" y="3090672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RMSE (very low)</a:t>
            </a:r>
            <a:endParaRPr lang="en-US" sz="950" dirty="0"/>
          </a:p>
        </p:txBody>
      </p:sp>
      <p:pic>
        <p:nvPicPr>
          <p:cNvPr id="1026" name="Picture 2" descr="MAPE vs MAE: Which Metric is Better? | by Lauren Gilbert | Trusted Data  Science @ Haleon | Medium">
            <a:extLst>
              <a:ext uri="{FF2B5EF4-FFF2-40B4-BE49-F238E27FC236}">
                <a16:creationId xmlns:a16="http://schemas.microsoft.com/office/drawing/2014/main" id="{90ADF340-9A2C-0ED6-587E-FCA27D49D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038" y="3546911"/>
            <a:ext cx="3070979" cy="979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rror Metrics: How to Evaluate Your Forecasting Models">
            <a:extLst>
              <a:ext uri="{FF2B5EF4-FFF2-40B4-BE49-F238E27FC236}">
                <a16:creationId xmlns:a16="http://schemas.microsoft.com/office/drawing/2014/main" id="{09192951-8A0C-B176-166E-733C0975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822" y="3682076"/>
            <a:ext cx="3187033" cy="70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ear Regression — Implementation and r2_score | by Abhishek Jain | Medium">
            <a:extLst>
              <a:ext uri="{FF2B5EF4-FFF2-40B4-BE49-F238E27FC236}">
                <a16:creationId xmlns:a16="http://schemas.microsoft.com/office/drawing/2014/main" id="{7A349A4B-3D86-F7FC-0AFC-B6ECF5403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829" y="3792838"/>
            <a:ext cx="3332261" cy="833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074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B848A-2466-F795-EB66-2702EFF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EE5FB58-2F86-B004-F406-28B67FB72E25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Score </a:t>
            </a:r>
            <a:endParaRPr lang="en-US" sz="3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811F2B8-A5F4-FF89-5652-FB68363F9E3D}"/>
              </a:ext>
            </a:extLst>
          </p:cNvPr>
          <p:cNvSpPr/>
          <p:nvPr/>
        </p:nvSpPr>
        <p:spPr>
          <a:xfrm>
            <a:off x="386861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E81A51B-B38C-E635-7C19-192D52D7DBCA}"/>
              </a:ext>
            </a:extLst>
          </p:cNvPr>
          <p:cNvSpPr/>
          <p:nvPr/>
        </p:nvSpPr>
        <p:spPr>
          <a:xfrm>
            <a:off x="386861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AB6A2C8-02F7-9038-6BF1-B8749EEA2CA5}"/>
              </a:ext>
            </a:extLst>
          </p:cNvPr>
          <p:cNvSpPr/>
          <p:nvPr/>
        </p:nvSpPr>
        <p:spPr>
          <a:xfrm>
            <a:off x="2096789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0D1E0F0-A01F-2430-5254-5A27878155A4}"/>
              </a:ext>
            </a:extLst>
          </p:cNvPr>
          <p:cNvSpPr/>
          <p:nvPr/>
        </p:nvSpPr>
        <p:spPr>
          <a:xfrm>
            <a:off x="2096789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$1,109.73</a:t>
            </a:r>
            <a:endParaRPr lang="en-US" sz="2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D91080-3B51-3DFD-EFEE-C0B49030E659}"/>
              </a:ext>
            </a:extLst>
          </p:cNvPr>
          <p:cNvSpPr/>
          <p:nvPr/>
        </p:nvSpPr>
        <p:spPr>
          <a:xfrm>
            <a:off x="3806717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CD1FB41-BE6E-1C35-225A-364EDB92D47D}"/>
              </a:ext>
            </a:extLst>
          </p:cNvPr>
          <p:cNvSpPr/>
          <p:nvPr/>
        </p:nvSpPr>
        <p:spPr>
          <a:xfrm>
            <a:off x="3806717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$651.32</a:t>
            </a:r>
            <a:endParaRPr lang="en-US" sz="2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4D807DA-AA29-A85F-EE7B-C9B47A0FB986}"/>
              </a:ext>
            </a:extLst>
          </p:cNvPr>
          <p:cNvSpPr/>
          <p:nvPr/>
        </p:nvSpPr>
        <p:spPr>
          <a:xfrm>
            <a:off x="5516645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EDC60CC-4621-57D3-45E8-B214267CCF15}"/>
              </a:ext>
            </a:extLst>
          </p:cNvPr>
          <p:cNvSpPr/>
          <p:nvPr/>
        </p:nvSpPr>
        <p:spPr>
          <a:xfrm>
            <a:off x="5516645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2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6FDD32E-C489-708F-A0B0-D4562FD28494}"/>
              </a:ext>
            </a:extLst>
          </p:cNvPr>
          <p:cNvSpPr/>
          <p:nvPr/>
        </p:nvSpPr>
        <p:spPr>
          <a:xfrm>
            <a:off x="7226573" y="138074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NRMSE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6A5AFF2-C763-1E7F-E130-C3E1FF9F9A5A}"/>
              </a:ext>
            </a:extLst>
          </p:cNvPr>
          <p:cNvSpPr/>
          <p:nvPr/>
        </p:nvSpPr>
        <p:spPr>
          <a:xfrm>
            <a:off x="7226573" y="1746504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0.0157</a:t>
            </a:r>
            <a:endParaRPr lang="en-US" sz="2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E85CC2E-4642-22CA-55C3-21FBA53DCA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50"/>
          <a:stretch>
            <a:fillRect/>
          </a:stretch>
        </p:blipFill>
        <p:spPr bwMode="auto">
          <a:xfrm>
            <a:off x="2202610" y="703384"/>
            <a:ext cx="4844601" cy="4341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7746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92608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8927DB-5414-4D58-A0FF-54D2A50AB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8159"/>
            <a:ext cx="9144000" cy="325866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40680" y="1005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0" name="Shape 1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B3AD672-C4C6-0985-038E-10561B263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5840"/>
            <a:ext cx="9144000" cy="322574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513D1-9EB1-24C3-CA62-176CC3D8F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6C61E5-3ABD-1595-813E-37FD6B453C93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6CC743A-76B8-9B63-183D-32A5540002F5}"/>
              </a:ext>
            </a:extLst>
          </p:cNvPr>
          <p:cNvSpPr/>
          <p:nvPr/>
        </p:nvSpPr>
        <p:spPr>
          <a:xfrm>
            <a:off x="5440680" y="1005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CF412EE-B8A2-E331-A0D4-24D925A2D9CB}"/>
              </a:ext>
            </a:extLst>
          </p:cNvPr>
          <p:cNvSpPr/>
          <p:nvPr/>
        </p:nvSpPr>
        <p:spPr>
          <a:xfrm>
            <a:off x="502921" y="1033272"/>
            <a:ext cx="64008" cy="10058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B8DDC849-2592-68CD-C44B-C32374AFB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3" y="1380744"/>
            <a:ext cx="274320" cy="27432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A94AF62C-2656-6B1E-2AA7-77FC3BFFD715}"/>
              </a:ext>
            </a:extLst>
          </p:cNvPr>
          <p:cNvSpPr/>
          <p:nvPr/>
        </p:nvSpPr>
        <p:spPr>
          <a:xfrm>
            <a:off x="1005841" y="1106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Bias–Variance</a:t>
            </a:r>
            <a:endParaRPr lang="en-US" sz="13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90C8A2-03E8-5A45-6BC4-F8FC42A00B80}"/>
              </a:ext>
            </a:extLst>
          </p:cNvPr>
          <p:cNvSpPr/>
          <p:nvPr/>
        </p:nvSpPr>
        <p:spPr>
          <a:xfrm>
            <a:off x="1005840" y="1453896"/>
            <a:ext cx="50063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gap between training and test performance confirms excellent generalisation with minimal overfitting. The model is well-balanced.</a:t>
            </a:r>
            <a:endParaRPr lang="en-US" sz="105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71E0437C-2CCC-8947-FD8B-307A05B3DE97}"/>
              </a:ext>
            </a:extLst>
          </p:cNvPr>
          <p:cNvSpPr/>
          <p:nvPr/>
        </p:nvSpPr>
        <p:spPr>
          <a:xfrm>
            <a:off x="502921" y="2176272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4B84611C-720E-EAB7-ED87-129F6D98A0FB}"/>
              </a:ext>
            </a:extLst>
          </p:cNvPr>
          <p:cNvSpPr/>
          <p:nvPr/>
        </p:nvSpPr>
        <p:spPr>
          <a:xfrm>
            <a:off x="502921" y="2176272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8D28375E-97D2-DB75-0EED-3DFD97BEA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3" y="2523744"/>
            <a:ext cx="274320" cy="27432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3C996847-FFED-C124-B3FC-7774C0822659}"/>
              </a:ext>
            </a:extLst>
          </p:cNvPr>
          <p:cNvSpPr/>
          <p:nvPr/>
        </p:nvSpPr>
        <p:spPr>
          <a:xfrm>
            <a:off x="1005841" y="2249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Patterns</a:t>
            </a:r>
            <a:endParaRPr lang="en-US" sz="13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09CA03D9-D708-797D-6970-CF6CB441573F}"/>
              </a:ext>
            </a:extLst>
          </p:cNvPr>
          <p:cNvSpPr/>
          <p:nvPr/>
        </p:nvSpPr>
        <p:spPr>
          <a:xfrm>
            <a:off x="1005840" y="2596896"/>
            <a:ext cx="51587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error observed for luxury vehicles. Increased variance in the high-price segment (&gt;$50K). Limited coverage of rare models.</a:t>
            </a:r>
            <a:endParaRPr lang="en-US" sz="10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13392560-38C1-D397-0929-1B134850D898}"/>
              </a:ext>
            </a:extLst>
          </p:cNvPr>
          <p:cNvSpPr/>
          <p:nvPr/>
        </p:nvSpPr>
        <p:spPr>
          <a:xfrm>
            <a:off x="502921" y="3319272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BCC4EB82-AD8D-057F-3EBD-F4A6FF4F6FD7}"/>
              </a:ext>
            </a:extLst>
          </p:cNvPr>
          <p:cNvSpPr/>
          <p:nvPr/>
        </p:nvSpPr>
        <p:spPr>
          <a:xfrm>
            <a:off x="502921" y="3319272"/>
            <a:ext cx="64008" cy="100584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D651A05-4809-0603-6046-932E5613D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3" y="3666744"/>
            <a:ext cx="274320" cy="274320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BE71B9E0-A31D-AF4E-68B1-F843771ED0B1}"/>
              </a:ext>
            </a:extLst>
          </p:cNvPr>
          <p:cNvSpPr/>
          <p:nvPr/>
        </p:nvSpPr>
        <p:spPr>
          <a:xfrm>
            <a:off x="1005841" y="3392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Distribution</a:t>
            </a:r>
            <a:endParaRPr lang="en-US" sz="13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7C12C36-CDCE-735B-995B-BEFDA0DFE57C}"/>
              </a:ext>
            </a:extLst>
          </p:cNvPr>
          <p:cNvSpPr/>
          <p:nvPr/>
        </p:nvSpPr>
        <p:spPr>
          <a:xfrm>
            <a:off x="1005840" y="3739896"/>
            <a:ext cx="5273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approximately normally distributed and centred near zero — confirming the model captures the main pricing signal.</a:t>
            </a:r>
            <a:endParaRPr lang="en-US" sz="105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D3F6B270-CD31-9976-923F-C4DF995A8E3B}"/>
              </a:ext>
            </a:extLst>
          </p:cNvPr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889DF821-F232-484E-7CF2-B5A9E5BC0DDB}"/>
              </a:ext>
            </a:extLst>
          </p:cNvPr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69270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&amp; Future 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what we'd do differently, and where we go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4572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4813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Well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8424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1938528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(15%/10%) significantly reduced overfitting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2441448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505456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45973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MSE loss stabilised optimisation of skewed prices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200" y="2962656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026664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298094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for Model preserved price signal without explosion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663440" y="1417320"/>
            <a:ext cx="3977640" cy="45720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481328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14813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4663440" y="1920240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984248"/>
            <a:ext cx="228600" cy="22860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120640" y="1938528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dataset (~3K records) constrained model capacity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663440" y="2441448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505456"/>
            <a:ext cx="228600" cy="2286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20640" y="245973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High-cardinality brand/model features required careful encoding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4663440" y="2962656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026664"/>
            <a:ext cx="228600" cy="22860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120640" y="298094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luxury prices increased variance in high-price segment</a:t>
            </a:r>
            <a:endParaRPr lang="en-US" sz="1100" dirty="0"/>
          </a:p>
        </p:txBody>
      </p:sp>
      <p:sp>
        <p:nvSpPr>
          <p:cNvPr id="34" name="Shape 22"/>
          <p:cNvSpPr/>
          <p:nvPr/>
        </p:nvSpPr>
        <p:spPr>
          <a:xfrm>
            <a:off x="457200" y="4160520"/>
            <a:ext cx="82296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3"/>
          <p:cNvSpPr/>
          <p:nvPr/>
        </p:nvSpPr>
        <p:spPr>
          <a:xfrm>
            <a:off x="566928" y="41605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</a:t>
            </a:r>
            <a:endParaRPr lang="en-US" sz="1100" dirty="0"/>
          </a:p>
        </p:txBody>
      </p:sp>
      <p:sp>
        <p:nvSpPr>
          <p:cNvPr id="36" name="Text 24"/>
          <p:cNvSpPr/>
          <p:nvPr/>
        </p:nvSpPr>
        <p:spPr>
          <a:xfrm>
            <a:off x="1664208" y="4160520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 XGBoost &amp; LightGBM   ·   Explore Transformer-based tabular models   ·   Add uncertainty estimation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1097280"/>
            <a:ext cx="3474720" cy="347472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28600"/>
            <a:ext cx="86868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7899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3383280" y="2084832"/>
            <a:ext cx="237744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7" name="Text 4"/>
          <p:cNvSpPr/>
          <p:nvPr/>
        </p:nvSpPr>
        <p:spPr>
          <a:xfrm>
            <a:off x="457200" y="22402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094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7840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data-driven pricing for buyers, sellers &amp; platforms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14223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7840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7840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DNN + Flask app + CLI inference · Keras / TensorFlow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980944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7608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27608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0.9899  ·  MAE = $651.32  ·  MAPE = 5.75%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142232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7608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27608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loss + Dropout + leakage-free pipeline = robust model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1113</Words>
  <Application>Microsoft Office PowerPoint</Application>
  <PresentationFormat>On-screen Show (16:9)</PresentationFormat>
  <Paragraphs>272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 Price Prediction Using Deep Learning</dc:title>
  <dc:subject>PptxGenJS Presentation</dc:subject>
  <dc:creator>PptxGenJS</dc:creator>
  <cp:lastModifiedBy>tasbih neamatalla</cp:lastModifiedBy>
  <cp:revision>7</cp:revision>
  <dcterms:created xsi:type="dcterms:W3CDTF">2026-05-13T19:54:06Z</dcterms:created>
  <dcterms:modified xsi:type="dcterms:W3CDTF">2026-05-14T10:40:53Z</dcterms:modified>
</cp:coreProperties>
</file>