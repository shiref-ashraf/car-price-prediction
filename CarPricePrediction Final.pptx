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ppt/notesSlides/notesSlide13.xml" ContentType="application/vnd.openxmlformats-officedocument.presentationml.notesSlide+xml"/>
  <Override PartName="/ppt/charts/chart3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364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84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 Loss (MSE)</c:v>
                </c:pt>
              </c:strCache>
            </c:strRef>
          </c:tx>
          <c:spPr>
            <a:ln w="25400" cap="flat">
              <a:solidFill>
                <a:srgbClr val="0A93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9396"/>
              </a:solidFill>
              <a:ln w="9525" cap="flat">
                <a:solidFill>
                  <a:srgbClr val="0A9396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E1</c:v>
                </c:pt>
                <c:pt idx="1">
                  <c:v>E30</c:v>
                </c:pt>
                <c:pt idx="2">
                  <c:v>E60</c:v>
                </c:pt>
                <c:pt idx="3">
                  <c:v>E90</c:v>
                </c:pt>
                <c:pt idx="4">
                  <c:v>E120</c:v>
                </c:pt>
                <c:pt idx="5">
                  <c:v>E150</c:v>
                </c:pt>
                <c:pt idx="6">
                  <c:v>E180</c:v>
                </c:pt>
                <c:pt idx="7">
                  <c:v>E210</c:v>
                </c:pt>
                <c:pt idx="8">
                  <c:v>E240</c:v>
                </c:pt>
                <c:pt idx="9">
                  <c:v>E270</c:v>
                </c:pt>
                <c:pt idx="10">
                  <c:v>E300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0.85</c:v>
                </c:pt>
                <c:pt idx="1">
                  <c:v>0.35</c:v>
                </c:pt>
                <c:pt idx="2">
                  <c:v>0.18</c:v>
                </c:pt>
                <c:pt idx="3">
                  <c:v>0.1</c:v>
                </c:pt>
                <c:pt idx="4">
                  <c:v>7.0000000000000007E-2</c:v>
                </c:pt>
                <c:pt idx="5">
                  <c:v>5.5E-2</c:v>
                </c:pt>
                <c:pt idx="6">
                  <c:v>4.4999999999999998E-2</c:v>
                </c:pt>
                <c:pt idx="7">
                  <c:v>3.7999999999999999E-2</c:v>
                </c:pt>
                <c:pt idx="8">
                  <c:v>3.4000000000000002E-2</c:v>
                </c:pt>
                <c:pt idx="9">
                  <c:v>3.1E-2</c:v>
                </c:pt>
                <c:pt idx="10">
                  <c:v>2.9000000000000001E-2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6916-0E49-B7F4-18651206695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 Loss (MSE)</c:v>
                </c:pt>
              </c:strCache>
            </c:strRef>
          </c:tx>
          <c:spPr>
            <a:ln w="25400" cap="flat">
              <a:solidFill>
                <a:srgbClr val="EE9B0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E9B00"/>
              </a:solidFill>
              <a:ln w="9525" cap="flat">
                <a:solidFill>
                  <a:srgbClr val="EE9B00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E1</c:v>
                </c:pt>
                <c:pt idx="1">
                  <c:v>E30</c:v>
                </c:pt>
                <c:pt idx="2">
                  <c:v>E60</c:v>
                </c:pt>
                <c:pt idx="3">
                  <c:v>E90</c:v>
                </c:pt>
                <c:pt idx="4">
                  <c:v>E120</c:v>
                </c:pt>
                <c:pt idx="5">
                  <c:v>E150</c:v>
                </c:pt>
                <c:pt idx="6">
                  <c:v>E180</c:v>
                </c:pt>
                <c:pt idx="7">
                  <c:v>E210</c:v>
                </c:pt>
                <c:pt idx="8">
                  <c:v>E240</c:v>
                </c:pt>
                <c:pt idx="9">
                  <c:v>E270</c:v>
                </c:pt>
                <c:pt idx="10">
                  <c:v>E300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0.9</c:v>
                </c:pt>
                <c:pt idx="1">
                  <c:v>0.38</c:v>
                </c:pt>
                <c:pt idx="2">
                  <c:v>0.21</c:v>
                </c:pt>
                <c:pt idx="3">
                  <c:v>0.12</c:v>
                </c:pt>
                <c:pt idx="4">
                  <c:v>0.09</c:v>
                </c:pt>
                <c:pt idx="5">
                  <c:v>7.1999999999999995E-2</c:v>
                </c:pt>
                <c:pt idx="6">
                  <c:v>6.0999999999999999E-2</c:v>
                </c:pt>
                <c:pt idx="7">
                  <c:v>5.3999999999999999E-2</c:v>
                </c:pt>
                <c:pt idx="8">
                  <c:v>0.05</c:v>
                </c:pt>
                <c:pt idx="9">
                  <c:v>4.8000000000000001E-2</c:v>
                </c:pt>
                <c:pt idx="10">
                  <c:v>4.5999999999999999E-2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6916-0E49-B7F4-1865120669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</c:v>
                </c:pt>
              </c:strCache>
            </c:strRef>
          </c:tx>
          <c:spPr>
            <a:solidFill>
              <a:srgbClr val="0A9396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86F5-EE4C-B00C-4F8A5A4B3563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86F5-EE4C-B00C-4F8A5A4B3563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86F5-EE4C-B00C-4F8A5A4B3563}"/>
              </c:ext>
            </c:extLst>
          </c:dPt>
          <c:dPt>
            <c:idx val="3"/>
            <c:invertIfNegative val="0"/>
            <c:bubble3D val="0"/>
            <c:spPr>
              <a:solidFill>
                <a:srgbClr val="0D7A5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6F5-EE4C-B00C-4F8A5A4B3563}"/>
              </c:ext>
            </c:extLst>
          </c:dPt>
          <c:dPt>
            <c:idx val="4"/>
            <c:invertIfNegative val="0"/>
            <c:bubble3D val="0"/>
            <c:spPr>
              <a:solidFill>
                <a:srgbClr val="94A3B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6F5-EE4C-B00C-4F8A5A4B3563}"/>
              </c:ext>
            </c:extLst>
          </c:dPt>
          <c:dPt>
            <c:idx val="5"/>
            <c:invertIfNegative val="0"/>
            <c:bubble3D val="0"/>
            <c:spPr>
              <a:solidFill>
                <a:srgbClr val="94A3B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86F5-EE4C-B00C-4F8A5A4B3563}"/>
              </c:ext>
            </c:extLst>
          </c:dPt>
          <c:dPt>
            <c:idx val="6"/>
            <c:invertIfNegative val="0"/>
            <c:bubble3D val="0"/>
            <c:spPr>
              <a:solidFill>
                <a:srgbClr val="94A3B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86F5-EE4C-B00C-4F8A5A4B3563}"/>
              </c:ext>
            </c:extLst>
          </c:dPt>
          <c:dPt>
            <c:idx val="7"/>
            <c:invertIfNegative val="0"/>
            <c:bubble3D val="0"/>
            <c:spPr>
              <a:solidFill>
                <a:srgbClr val="94A3B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86F5-EE4C-B00C-4F8A5A4B3563}"/>
              </c:ext>
            </c:extLst>
          </c:dPt>
          <c:dPt>
            <c:idx val="8"/>
            <c:invertIfNegative val="0"/>
            <c:bubble3D val="0"/>
            <c:spPr>
              <a:solidFill>
                <a:srgbClr val="94A3B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86F5-EE4C-B00C-4F8A5A4B3563}"/>
              </c:ext>
            </c:extLst>
          </c:dPt>
          <c:dPt>
            <c:idx val="9"/>
            <c:invertIfNegative val="0"/>
            <c:bubble3D val="0"/>
            <c:spPr>
              <a:solidFill>
                <a:srgbClr val="94A3B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86F5-EE4C-B00C-4F8A5A4B3563}"/>
              </c:ext>
            </c:extLst>
          </c:dPt>
          <c:dPt>
            <c:idx val="10"/>
            <c:invertIfNegative val="0"/>
            <c:bubble3D val="0"/>
            <c:spPr>
              <a:solidFill>
                <a:srgbClr val="94A3B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5-86F5-EE4C-B00C-4F8A5A4B3563}"/>
              </c:ext>
            </c:extLst>
          </c:dPt>
          <c:dPt>
            <c:idx val="11"/>
            <c:invertIfNegative val="0"/>
            <c:bubble3D val="0"/>
            <c:spPr>
              <a:solidFill>
                <a:srgbClr val="94A3B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7-86F5-EE4C-B00C-4F8A5A4B3563}"/>
              </c:ext>
            </c:extLst>
          </c:dPt>
          <c:dPt>
            <c:idx val="12"/>
            <c:invertIfNegative val="0"/>
            <c:bubble3D val="0"/>
            <c:spPr>
              <a:solidFill>
                <a:srgbClr val="94A3B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9-86F5-EE4C-B00C-4F8A5A4B3563}"/>
              </c:ext>
            </c:extLst>
          </c:dPt>
          <c:dPt>
            <c:idx val="13"/>
            <c:invertIfNegative val="0"/>
            <c:bubble3D val="0"/>
            <c:spPr>
              <a:solidFill>
                <a:srgbClr val="94A3B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B-86F5-EE4C-B00C-4F8A5A4B3563}"/>
              </c:ext>
            </c:extLst>
          </c:dPt>
          <c:dPt>
            <c:idx val="14"/>
            <c:invertIfNegative val="0"/>
            <c:bubble3D val="0"/>
            <c:spPr>
              <a:solidFill>
                <a:srgbClr val="94A3B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D-86F5-EE4C-B00C-4F8A5A4B3563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A3A"/>
                    </a:solidFill>
                    <a:latin typeface="Arial"/>
                  </a:defRPr>
                </a:pPr>
                <a:endParaRPr lang="en-EG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Sheet1!$A$2:$A$16</c:f>
              <c:strCache>
                <c:ptCount val="15"/>
                <c:pt idx="0">
                  <c:v>Vehicle_Age</c:v>
                </c:pt>
                <c:pt idx="1">
                  <c:v>Model_enc</c:v>
                </c:pt>
                <c:pt idx="2">
                  <c:v>KM_Driven</c:v>
                </c:pt>
                <c:pt idx="3">
                  <c:v>Owner_Type</c:v>
                </c:pt>
                <c:pt idx="4">
                  <c:v>Brand_Hyundai</c:v>
                </c:pt>
                <c:pt idx="5">
                  <c:v>Brand_Kia</c:v>
                </c:pt>
                <c:pt idx="6">
                  <c:v>Brand_Ford</c:v>
                </c:pt>
                <c:pt idx="7">
                  <c:v>Brand_Mercedes</c:v>
                </c:pt>
                <c:pt idx="8">
                  <c:v>Fuel_Electric</c:v>
                </c:pt>
                <c:pt idx="9">
                  <c:v>Trans_Manual</c:v>
                </c:pt>
                <c:pt idx="10">
                  <c:v>Engine_CC</c:v>
                </c:pt>
                <c:pt idx="11">
                  <c:v>Brand_Chevrolet</c:v>
                </c:pt>
                <c:pt idx="12">
                  <c:v>KM_per_Year</c:v>
                </c:pt>
                <c:pt idx="13">
                  <c:v>Power_BHP</c:v>
                </c:pt>
                <c:pt idx="14">
                  <c:v>Fuel_Petrol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0.57999999999999996</c:v>
                </c:pt>
                <c:pt idx="1">
                  <c:v>0.51</c:v>
                </c:pt>
                <c:pt idx="2">
                  <c:v>0.28000000000000003</c:v>
                </c:pt>
                <c:pt idx="3">
                  <c:v>0.08</c:v>
                </c:pt>
                <c:pt idx="4">
                  <c:v>0.06</c:v>
                </c:pt>
                <c:pt idx="5">
                  <c:v>5.5E-2</c:v>
                </c:pt>
                <c:pt idx="6">
                  <c:v>0.05</c:v>
                </c:pt>
                <c:pt idx="7">
                  <c:v>4.8000000000000001E-2</c:v>
                </c:pt>
                <c:pt idx="8">
                  <c:v>4.4999999999999998E-2</c:v>
                </c:pt>
                <c:pt idx="9">
                  <c:v>4.2000000000000003E-2</c:v>
                </c:pt>
                <c:pt idx="10">
                  <c:v>3.7999999999999999E-2</c:v>
                </c:pt>
                <c:pt idx="11">
                  <c:v>3.4000000000000002E-2</c:v>
                </c:pt>
                <c:pt idx="12">
                  <c:v>0.03</c:v>
                </c:pt>
                <c:pt idx="13">
                  <c:v>2.5000000000000001E-2</c:v>
                </c:pt>
                <c:pt idx="14">
                  <c:v>1.7999999999999999E-2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E-86F5-EE4C-B00C-4F8A5A4B356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</a:rPr>
              <a:t>Predicted vs Actual Price (USD)</a:t>
            </a:r>
          </a:p>
        </c:rich>
      </c:tx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Predicted</c:v>
                </c:pt>
              </c:strCache>
            </c:strRef>
          </c:tx>
          <c:spPr>
            <a:ln w="25400" cap="flat">
              <a:solidFill>
                <a:srgbClr val="0A93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9396"/>
              </a:solidFill>
              <a:ln w="9525" cap="flat">
                <a:solidFill>
                  <a:srgbClr val="0A9396"/>
                </a:solidFill>
                <a:prstDash val="solid"/>
                <a:round/>
              </a:ln>
              <a:effectLst/>
            </c:spPr>
          </c:marker>
          <c:xVal>
            <c:numRef>
              <c:f>Sheet1!$A$2:$A$16</c:f>
              <c:numCache>
                <c:formatCode>General</c:formatCode>
                <c:ptCount val="15"/>
                <c:pt idx="0">
                  <c:v>3000</c:v>
                </c:pt>
                <c:pt idx="1">
                  <c:v>5000</c:v>
                </c:pt>
                <c:pt idx="2">
                  <c:v>7000</c:v>
                </c:pt>
                <c:pt idx="3">
                  <c:v>9000</c:v>
                </c:pt>
                <c:pt idx="4">
                  <c:v>11000</c:v>
                </c:pt>
                <c:pt idx="5">
                  <c:v>14000</c:v>
                </c:pt>
                <c:pt idx="6">
                  <c:v>17000</c:v>
                </c:pt>
                <c:pt idx="7">
                  <c:v>21000</c:v>
                </c:pt>
                <c:pt idx="8">
                  <c:v>25000</c:v>
                </c:pt>
                <c:pt idx="9">
                  <c:v>30000</c:v>
                </c:pt>
                <c:pt idx="10">
                  <c:v>35000</c:v>
                </c:pt>
                <c:pt idx="11">
                  <c:v>40000</c:v>
                </c:pt>
                <c:pt idx="12">
                  <c:v>50000</c:v>
                </c:pt>
                <c:pt idx="13">
                  <c:v>60000</c:v>
                </c:pt>
                <c:pt idx="14">
                  <c:v>75000</c:v>
                </c:pt>
              </c:numCache>
            </c:numRef>
          </c:xVal>
          <c:yVal>
            <c:numRef>
              <c:f>Sheet1!$B$2:$B$16</c:f>
              <c:numCache>
                <c:formatCode>General</c:formatCode>
                <c:ptCount val="15"/>
                <c:pt idx="0">
                  <c:v>3100</c:v>
                </c:pt>
                <c:pt idx="1">
                  <c:v>4900</c:v>
                </c:pt>
                <c:pt idx="2">
                  <c:v>7200</c:v>
                </c:pt>
                <c:pt idx="3">
                  <c:v>8800</c:v>
                </c:pt>
                <c:pt idx="4">
                  <c:v>11200</c:v>
                </c:pt>
                <c:pt idx="5">
                  <c:v>13700</c:v>
                </c:pt>
                <c:pt idx="6">
                  <c:v>17100</c:v>
                </c:pt>
                <c:pt idx="7">
                  <c:v>21300</c:v>
                </c:pt>
                <c:pt idx="8">
                  <c:v>25100</c:v>
                </c:pt>
                <c:pt idx="9">
                  <c:v>29800</c:v>
                </c:pt>
                <c:pt idx="10">
                  <c:v>35400</c:v>
                </c:pt>
                <c:pt idx="11">
                  <c:v>40100</c:v>
                </c:pt>
                <c:pt idx="12">
                  <c:v>50200</c:v>
                </c:pt>
                <c:pt idx="13">
                  <c:v>59800</c:v>
                </c:pt>
                <c:pt idx="14">
                  <c:v>76000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F9D9-B245-9C09-47A9696E619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76251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1097280"/>
            <a:ext cx="3200400" cy="3200400"/>
          </a:xfrm>
          <a:prstGeom prst="ellipse">
            <a:avLst/>
          </a:prstGeom>
          <a:solidFill>
            <a:srgbClr val="0A9396">
              <a:alpha val="25000"/>
            </a:srgbClr>
          </a:solidFill>
          <a:ln w="12700">
            <a:solidFill>
              <a:srgbClr val="0A9396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" name="Shape 1"/>
          <p:cNvSpPr/>
          <p:nvPr/>
        </p:nvSpPr>
        <p:spPr>
          <a:xfrm>
            <a:off x="7772400" y="-457200"/>
            <a:ext cx="2011680" cy="2011680"/>
          </a:xfrm>
          <a:prstGeom prst="ellipse">
            <a:avLst/>
          </a:prstGeom>
          <a:solidFill>
            <a:srgbClr val="EE9B00">
              <a:alpha val="20000"/>
            </a:srgbClr>
          </a:solidFill>
          <a:ln w="12700">
            <a:solidFill>
              <a:srgbClr val="EE9B0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4" name="Shape 2"/>
          <p:cNvSpPr/>
          <p:nvPr/>
        </p:nvSpPr>
        <p:spPr>
          <a:xfrm>
            <a:off x="-457200" y="3657600"/>
            <a:ext cx="2286000" cy="2286000"/>
          </a:xfrm>
          <a:prstGeom prst="ellipse">
            <a:avLst/>
          </a:prstGeom>
          <a:solidFill>
            <a:srgbClr val="0A9396">
              <a:alpha val="15000"/>
            </a:srgbClr>
          </a:solidFill>
          <a:ln w="12700">
            <a:solidFill>
              <a:srgbClr val="0A9396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822960"/>
            <a:ext cx="658368" cy="6583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44475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 Price Prediction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457200" y="217627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Deep Learning</a:t>
            </a:r>
            <a:endParaRPr lang="en-US" sz="4000" dirty="0"/>
          </a:p>
        </p:txBody>
      </p:sp>
      <p:sp>
        <p:nvSpPr>
          <p:cNvPr id="8" name="Shape 5"/>
          <p:cNvSpPr/>
          <p:nvPr/>
        </p:nvSpPr>
        <p:spPr>
          <a:xfrm>
            <a:off x="457200" y="2898648"/>
            <a:ext cx="2011680" cy="50292"/>
          </a:xfrm>
          <a:prstGeom prst="rect">
            <a:avLst/>
          </a:prstGeom>
          <a:solidFill>
            <a:srgbClr val="EE9B00"/>
          </a:solidFill>
          <a:ln w="12700">
            <a:solidFill>
              <a:srgbClr val="EE9B0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9" name="Text 6"/>
          <p:cNvSpPr/>
          <p:nvPr/>
        </p:nvSpPr>
        <p:spPr>
          <a:xfrm>
            <a:off x="457200" y="3035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CSE 433  —  Emerging Topics in CS &amp; Engineering: Deep Learning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340156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to:  Assoc. Prof. Dr. Mohammed Kamal Abdel Salam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57200" y="38404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Jana Elsalhy  ·  120220093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18795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Shiref Ashraf  ·  120220099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7200" y="453542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Ahmed Nagah  ·  120220116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754880" y="38404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Tasbih Othman  ·  120220117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754880" y="418795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Karim Mazroua  ·  120220118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754880" y="453542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Yasmeen Sameh  ·  120220143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E-JUST  |  May 13,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402336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64008" cy="146304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37360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474720" y="132588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207008" y="141732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Value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207008" y="1856232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problem, objectives &amp; who benefits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2880360"/>
            <a:ext cx="402336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0" name="Shape 7"/>
          <p:cNvSpPr/>
          <p:nvPr/>
        </p:nvSpPr>
        <p:spPr>
          <a:xfrm>
            <a:off x="457200" y="2880360"/>
            <a:ext cx="64008" cy="146304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383280"/>
            <a:ext cx="384048" cy="3840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74720" y="29718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1207008" y="306324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Solution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1207008" y="3502152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Dataset, preprocessing, model &amp; web app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754880" y="1234440"/>
            <a:ext cx="402336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6" name="Shape 12"/>
          <p:cNvSpPr/>
          <p:nvPr/>
        </p:nvSpPr>
        <p:spPr>
          <a:xfrm>
            <a:off x="4754880" y="1234440"/>
            <a:ext cx="64008" cy="146304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1737360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772400" y="132588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400" dirty="0"/>
          </a:p>
        </p:txBody>
      </p:sp>
      <p:sp>
        <p:nvSpPr>
          <p:cNvPr id="19" name="Text 14"/>
          <p:cNvSpPr/>
          <p:nvPr/>
        </p:nvSpPr>
        <p:spPr>
          <a:xfrm>
            <a:off x="5504688" y="141732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5504688" y="1856232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metrics, feature importance &amp; error analysis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754880" y="2880360"/>
            <a:ext cx="402336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22" name="Shape 17"/>
          <p:cNvSpPr/>
          <p:nvPr/>
        </p:nvSpPr>
        <p:spPr>
          <a:xfrm>
            <a:off x="4754880" y="2880360"/>
            <a:ext cx="64008" cy="146304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383280"/>
            <a:ext cx="384048" cy="38404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772400" y="29718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400" dirty="0"/>
          </a:p>
        </p:txBody>
      </p:sp>
      <p:sp>
        <p:nvSpPr>
          <p:cNvPr id="25" name="Text 19"/>
          <p:cNvSpPr/>
          <p:nvPr/>
        </p:nvSpPr>
        <p:spPr>
          <a:xfrm>
            <a:off x="5504688" y="306324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5504688" y="3502152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Limitations, future improvements &amp; conclusion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used car pricing so difficult?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840480" cy="338328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627632"/>
            <a:ext cx="594360" cy="594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14884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Car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Challenge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914400" y="2944368"/>
            <a:ext cx="2926080" cy="4572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8" name="Text 5"/>
          <p:cNvSpPr/>
          <p:nvPr/>
        </p:nvSpPr>
        <p:spPr>
          <a:xfrm>
            <a:off x="594360" y="30632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pricing depends on many interconnected variables, making manual estimation difficult and inconsistent.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94360" y="4005072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Incorrect pricing leads to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loss for both buyers &amp; sellers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617720" y="1417320"/>
            <a:ext cx="4069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1" name="Shape 8"/>
          <p:cNvSpPr/>
          <p:nvPr/>
        </p:nvSpPr>
        <p:spPr>
          <a:xfrm>
            <a:off x="4617720" y="1417320"/>
            <a:ext cx="64008" cy="1005840"/>
          </a:xfrm>
          <a:prstGeom prst="rect">
            <a:avLst/>
          </a:prstGeom>
          <a:solidFill>
            <a:srgbClr val="EE9B00"/>
          </a:solidFill>
          <a:ln w="12700">
            <a:solidFill>
              <a:srgbClr val="EE9B0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2" name="Text 9"/>
          <p:cNvSpPr/>
          <p:nvPr/>
        </p:nvSpPr>
        <p:spPr>
          <a:xfrm>
            <a:off x="4800600" y="1508760"/>
            <a:ext cx="3767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Asymmetry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800600" y="1847088"/>
            <a:ext cx="3767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Buyers can't tell if a listed price is fair; sellers lack benchmarks to price competitively.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617720" y="2560320"/>
            <a:ext cx="4069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5" name="Shape 12"/>
          <p:cNvSpPr/>
          <p:nvPr/>
        </p:nvSpPr>
        <p:spPr>
          <a:xfrm>
            <a:off x="4617720" y="2560320"/>
            <a:ext cx="64008" cy="1005840"/>
          </a:xfrm>
          <a:prstGeom prst="rect">
            <a:avLst/>
          </a:prstGeom>
          <a:solidFill>
            <a:srgbClr val="EE9B00"/>
          </a:solidFill>
          <a:ln w="12700">
            <a:solidFill>
              <a:srgbClr val="EE9B0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6" name="Text 13"/>
          <p:cNvSpPr/>
          <p:nvPr/>
        </p:nvSpPr>
        <p:spPr>
          <a:xfrm>
            <a:off x="4800600" y="2651760"/>
            <a:ext cx="3767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Variables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800600" y="2990088"/>
            <a:ext cx="3767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Age, mileage, brand, fuel type, ownership history — humans cannot process them simultaneously.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617720" y="3703320"/>
            <a:ext cx="4069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9" name="Shape 16"/>
          <p:cNvSpPr/>
          <p:nvPr/>
        </p:nvSpPr>
        <p:spPr>
          <a:xfrm>
            <a:off x="4617720" y="3703320"/>
            <a:ext cx="64008" cy="1005840"/>
          </a:xfrm>
          <a:prstGeom prst="rect">
            <a:avLst/>
          </a:prstGeom>
          <a:solidFill>
            <a:srgbClr val="EE9B00"/>
          </a:solidFill>
          <a:ln w="12700">
            <a:solidFill>
              <a:srgbClr val="EE9B0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0" name="Text 17"/>
          <p:cNvSpPr/>
          <p:nvPr/>
        </p:nvSpPr>
        <p:spPr>
          <a:xfrm>
            <a:off x="4800600" y="3794760"/>
            <a:ext cx="3767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Methods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800600" y="4133088"/>
            <a:ext cx="3767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pricing relies on manual estimates, historical averages, or subjective judgment.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Value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 delivers impact across the entire used-car ecosystem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2606040" cy="3337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2606040" cy="658368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6192" y="1554480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221284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 Buyers</a:t>
            </a:r>
            <a:endParaRPr lang="en-US" sz="13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2743200"/>
            <a:ext cx="246888" cy="24688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50976" y="271576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Instantly verify if an asking price is fair</a:t>
            </a:r>
            <a:endParaRPr lang="en-US" sz="11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3383280"/>
            <a:ext cx="246888" cy="24688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50976" y="335584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against model predictions before purchase</a:t>
            </a:r>
            <a:endParaRPr lang="en-US" sz="11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4023360"/>
            <a:ext cx="246888" cy="24688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950976" y="399592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confident, data-backed decisions</a:t>
            </a:r>
            <a:endParaRPr lang="en-US" sz="1100" dirty="0"/>
          </a:p>
        </p:txBody>
      </p:sp>
      <p:sp>
        <p:nvSpPr>
          <p:cNvPr id="14" name="Shape 8"/>
          <p:cNvSpPr/>
          <p:nvPr/>
        </p:nvSpPr>
        <p:spPr>
          <a:xfrm>
            <a:off x="3291840" y="1481328"/>
            <a:ext cx="2606040" cy="3337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5" name="Shape 9"/>
          <p:cNvSpPr/>
          <p:nvPr/>
        </p:nvSpPr>
        <p:spPr>
          <a:xfrm>
            <a:off x="3291840" y="1481328"/>
            <a:ext cx="260604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0832" y="1554480"/>
            <a:ext cx="438912" cy="43891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3401568" y="221284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Sellers &amp; Dealerships</a:t>
            </a:r>
            <a:endParaRPr lang="en-US" sz="13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432" y="2743200"/>
            <a:ext cx="246888" cy="24688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3785616" y="271576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vehicles competitively from day one</a:t>
            </a:r>
            <a:endParaRPr lang="en-US" sz="1100" dirty="0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432" y="3383280"/>
            <a:ext cx="246888" cy="246888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3785616" y="335584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time-on-lot with accurate listings</a:t>
            </a:r>
            <a:endParaRPr lang="en-US" sz="1100" dirty="0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432" y="4023360"/>
            <a:ext cx="246888" cy="246888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3785616" y="399592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Maximise profit with market-aligned pricing</a:t>
            </a:r>
            <a:endParaRPr lang="en-US" sz="1100" dirty="0"/>
          </a:p>
        </p:txBody>
      </p:sp>
      <p:sp>
        <p:nvSpPr>
          <p:cNvPr id="24" name="Shape 14"/>
          <p:cNvSpPr/>
          <p:nvPr/>
        </p:nvSpPr>
        <p:spPr>
          <a:xfrm>
            <a:off x="6126480" y="1481328"/>
            <a:ext cx="2606040" cy="3337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25" name="Shape 15"/>
          <p:cNvSpPr/>
          <p:nvPr/>
        </p:nvSpPr>
        <p:spPr>
          <a:xfrm>
            <a:off x="6126480" y="1481328"/>
            <a:ext cx="2606040" cy="658368"/>
          </a:xfrm>
          <a:prstGeom prst="rect">
            <a:avLst/>
          </a:prstGeom>
          <a:solidFill>
            <a:srgbClr val="EE9B00"/>
          </a:solidFill>
          <a:ln w="12700">
            <a:solidFill>
              <a:srgbClr val="EE9B0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26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05472" y="1554480"/>
            <a:ext cx="438912" cy="438912"/>
          </a:xfrm>
          <a:prstGeom prst="rect">
            <a:avLst/>
          </a:prstGeom>
        </p:spPr>
      </p:pic>
      <p:sp>
        <p:nvSpPr>
          <p:cNvPr id="27" name="Text 16"/>
          <p:cNvSpPr/>
          <p:nvPr/>
        </p:nvSpPr>
        <p:spPr>
          <a:xfrm>
            <a:off x="6236208" y="221284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Automotive Platforms</a:t>
            </a:r>
            <a:endParaRPr lang="en-US" sz="1300" dirty="0"/>
          </a:p>
        </p:txBody>
      </p:sp>
      <p:pic>
        <p:nvPicPr>
          <p:cNvPr id="28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2743200"/>
            <a:ext cx="246888" cy="246888"/>
          </a:xfrm>
          <a:prstGeom prst="rect">
            <a:avLst/>
          </a:prstGeom>
        </p:spPr>
      </p:pic>
      <p:sp>
        <p:nvSpPr>
          <p:cNvPr id="29" name="Text 17"/>
          <p:cNvSpPr/>
          <p:nvPr/>
        </p:nvSpPr>
        <p:spPr>
          <a:xfrm>
            <a:off x="6620256" y="271576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into online car-selling platforms</a:t>
            </a:r>
            <a:endParaRPr lang="en-US" sz="1100" dirty="0"/>
          </a:p>
        </p:txBody>
      </p:sp>
      <p:pic>
        <p:nvPicPr>
          <p:cNvPr id="30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3383280"/>
            <a:ext cx="246888" cy="246888"/>
          </a:xfrm>
          <a:prstGeom prst="rect">
            <a:avLst/>
          </a:prstGeom>
        </p:spPr>
      </p:pic>
      <p:sp>
        <p:nvSpPr>
          <p:cNvPr id="31" name="Text 18"/>
          <p:cNvSpPr/>
          <p:nvPr/>
        </p:nvSpPr>
        <p:spPr>
          <a:xfrm>
            <a:off x="6620256" y="335584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dealership inventory pricing systems</a:t>
            </a:r>
            <a:endParaRPr lang="en-US" sz="1100" dirty="0"/>
          </a:p>
        </p:txBody>
      </p:sp>
      <p:pic>
        <p:nvPicPr>
          <p:cNvPr id="32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4023360"/>
            <a:ext cx="246888" cy="246888"/>
          </a:xfrm>
          <a:prstGeom prst="rect">
            <a:avLst/>
          </a:prstGeom>
        </p:spPr>
      </p:pic>
      <p:sp>
        <p:nvSpPr>
          <p:cNvPr id="33" name="Text 19"/>
          <p:cNvSpPr/>
          <p:nvPr/>
        </p:nvSpPr>
        <p:spPr>
          <a:xfrm>
            <a:off x="6620256" y="399592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insurance &amp; financing valuation</a:t>
            </a:r>
            <a:endParaRPr lang="en-US" sz="1100" dirty="0"/>
          </a:p>
        </p:txBody>
      </p:sp>
      <p:sp>
        <p:nvSpPr>
          <p:cNvPr id="34" name="Shape 20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5" name="Text 2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Objectives:   Develop an intelligent system  ·  Analyze pricing factors  ·  Build a complete DL pipeline  ·  Scalable for real-world integration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2743200"/>
            <a:ext cx="4114800" cy="4114800"/>
          </a:xfrm>
          <a:prstGeom prst="ellipse">
            <a:avLst/>
          </a:prstGeom>
          <a:solidFill>
            <a:srgbClr val="0A9396">
              <a:alpha val="18000"/>
            </a:srgbClr>
          </a:solidFill>
          <a:ln w="12700">
            <a:solidFill>
              <a:srgbClr val="0A9396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" name="Shape 1"/>
          <p:cNvSpPr/>
          <p:nvPr/>
        </p:nvSpPr>
        <p:spPr>
          <a:xfrm>
            <a:off x="6858000" y="-914400"/>
            <a:ext cx="3200400" cy="3200400"/>
          </a:xfrm>
          <a:prstGeom prst="ellipse">
            <a:avLst/>
          </a:prstGeom>
          <a:solidFill>
            <a:srgbClr val="EE9B00">
              <a:alpha val="20000"/>
            </a:srgbClr>
          </a:solidFill>
          <a:ln w="12700">
            <a:solidFill>
              <a:srgbClr val="EE9B0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365760"/>
            <a:ext cx="1645920" cy="1645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000" b="1" dirty="0">
                <a:solidFill>
                  <a:srgbClr val="1A3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457200" y="2240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Solution</a:t>
            </a:r>
            <a:endParaRPr lang="en-US" sz="4000" dirty="0"/>
          </a:p>
        </p:txBody>
      </p:sp>
      <p:sp>
        <p:nvSpPr>
          <p:cNvPr id="7" name="Shape 4"/>
          <p:cNvSpPr/>
          <p:nvPr/>
        </p:nvSpPr>
        <p:spPr>
          <a:xfrm>
            <a:off x="3200400" y="3154680"/>
            <a:ext cx="2743200" cy="54864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8" name="Text 5"/>
          <p:cNvSpPr/>
          <p:nvPr/>
        </p:nvSpPr>
        <p:spPr>
          <a:xfrm>
            <a:off x="457200" y="33375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 ·  Preprocessing  ·  Model Architecture  ·  Web App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&amp; Feature Engineering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~3,000 used car records with structured numerical and categorical features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5029200" cy="438912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5" name="Text 3"/>
          <p:cNvSpPr/>
          <p:nvPr/>
        </p:nvSpPr>
        <p:spPr>
          <a:xfrm>
            <a:off x="502920" y="105156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874520" y="105156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971800" y="1051560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490472"/>
            <a:ext cx="5029200" cy="347472"/>
          </a:xfrm>
          <a:prstGeom prst="rect">
            <a:avLst/>
          </a:prstGeom>
          <a:solidFill>
            <a:srgbClr val="F0F4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9" name="Text 7"/>
          <p:cNvSpPr/>
          <p:nvPr/>
        </p:nvSpPr>
        <p:spPr>
          <a:xfrm>
            <a:off x="502920" y="1490472"/>
            <a:ext cx="1353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874520" y="1490472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71800" y="149047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manufacturer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837944"/>
            <a:ext cx="502920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3" name="Text 11"/>
          <p:cNvSpPr/>
          <p:nvPr/>
        </p:nvSpPr>
        <p:spPr>
          <a:xfrm>
            <a:off x="502920" y="1837944"/>
            <a:ext cx="1353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874520" y="1837944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971800" y="183794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model (target encoded)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185416"/>
            <a:ext cx="5029200" cy="347472"/>
          </a:xfrm>
          <a:prstGeom prst="rect">
            <a:avLst/>
          </a:prstGeom>
          <a:solidFill>
            <a:srgbClr val="F0F4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7" name="Text 15"/>
          <p:cNvSpPr/>
          <p:nvPr/>
        </p:nvSpPr>
        <p:spPr>
          <a:xfrm>
            <a:off x="502920" y="2185416"/>
            <a:ext cx="1353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874520" y="2185416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971800" y="2185416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year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532888"/>
            <a:ext cx="502920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1" name="Text 19"/>
          <p:cNvSpPr/>
          <p:nvPr/>
        </p:nvSpPr>
        <p:spPr>
          <a:xfrm>
            <a:off x="502920" y="2532888"/>
            <a:ext cx="1353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Engine_CC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874520" y="2532888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971800" y="25328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displacement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2880360"/>
            <a:ext cx="5029200" cy="347472"/>
          </a:xfrm>
          <a:prstGeom prst="rect">
            <a:avLst/>
          </a:prstGeom>
          <a:solidFill>
            <a:srgbClr val="F0F4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5" name="Text 23"/>
          <p:cNvSpPr/>
          <p:nvPr/>
        </p:nvSpPr>
        <p:spPr>
          <a:xfrm>
            <a:off x="502920" y="2880360"/>
            <a:ext cx="1353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Power_BHP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874520" y="2880360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971800" y="28803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power output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3227832"/>
            <a:ext cx="502920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9" name="Text 27"/>
          <p:cNvSpPr/>
          <p:nvPr/>
        </p:nvSpPr>
        <p:spPr>
          <a:xfrm>
            <a:off x="502920" y="3227832"/>
            <a:ext cx="1353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Fuel_Type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874520" y="3227832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971800" y="322783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 type (one-hot)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3575304"/>
            <a:ext cx="5029200" cy="347472"/>
          </a:xfrm>
          <a:prstGeom prst="rect">
            <a:avLst/>
          </a:prstGeom>
          <a:solidFill>
            <a:srgbClr val="F0F4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3" name="Text 31"/>
          <p:cNvSpPr/>
          <p:nvPr/>
        </p:nvSpPr>
        <p:spPr>
          <a:xfrm>
            <a:off x="502920" y="3575304"/>
            <a:ext cx="1353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874520" y="3575304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971800" y="357530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 type (one-hot)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3922776"/>
            <a:ext cx="502920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7" name="Text 35"/>
          <p:cNvSpPr/>
          <p:nvPr/>
        </p:nvSpPr>
        <p:spPr>
          <a:xfrm>
            <a:off x="502920" y="3922776"/>
            <a:ext cx="1353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Owner_Type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1874520" y="3922776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Ordinal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971800" y="3922776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previous owners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57200" y="4270248"/>
            <a:ext cx="5029200" cy="347472"/>
          </a:xfrm>
          <a:prstGeom prst="rect">
            <a:avLst/>
          </a:prstGeom>
          <a:solidFill>
            <a:srgbClr val="F0F4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41" name="Text 39"/>
          <p:cNvSpPr/>
          <p:nvPr/>
        </p:nvSpPr>
        <p:spPr>
          <a:xfrm>
            <a:off x="502920" y="4270248"/>
            <a:ext cx="1353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KM_Driven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1874520" y="4270248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971800" y="427024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driven kilometers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57200" y="4617720"/>
            <a:ext cx="502920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45" name="Text 43"/>
          <p:cNvSpPr/>
          <p:nvPr/>
        </p:nvSpPr>
        <p:spPr>
          <a:xfrm>
            <a:off x="502920" y="4617720"/>
            <a:ext cx="1353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Price_USD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1874520" y="4617720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2971800" y="461772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vehicle selling price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715000" y="1051560"/>
            <a:ext cx="2971800" cy="438912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49" name="Text 47"/>
          <p:cNvSpPr/>
          <p:nvPr/>
        </p:nvSpPr>
        <p:spPr>
          <a:xfrm>
            <a:off x="5715000" y="1051560"/>
            <a:ext cx="2971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5715000" y="1490472"/>
            <a:ext cx="297180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51" name="Text 49"/>
          <p:cNvSpPr/>
          <p:nvPr/>
        </p:nvSpPr>
        <p:spPr>
          <a:xfrm>
            <a:off x="5852160" y="15819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Features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852160" y="190195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VehicleAge  =  2024 − Year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5852160" y="217627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KM_per_Year  =  KM_Driven / (VehicleAge + 1)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5852160" y="24505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transformation on Price_USD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5715000" y="2999232"/>
            <a:ext cx="2971800" cy="438912"/>
          </a:xfrm>
          <a:prstGeom prst="rect">
            <a:avLst/>
          </a:prstGeom>
          <a:solidFill>
            <a:srgbClr val="EE9B00"/>
          </a:solidFill>
          <a:ln w="12700">
            <a:solidFill>
              <a:srgbClr val="EE9B0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56" name="Text 54"/>
          <p:cNvSpPr/>
          <p:nvPr/>
        </p:nvSpPr>
        <p:spPr>
          <a:xfrm>
            <a:off x="5715000" y="2999232"/>
            <a:ext cx="2971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 Encoding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5715000" y="3438144"/>
            <a:ext cx="297180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58" name="Text 56"/>
          <p:cNvSpPr/>
          <p:nvPr/>
        </p:nvSpPr>
        <p:spPr>
          <a:xfrm>
            <a:off x="5852160" y="352958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One-Hot Encoding: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5852160" y="373075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Brand, Fuel Type, Transmission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5852160" y="395935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Encoding: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852160" y="41605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 (reduces dimensionality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preserving price signal)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852160" y="43891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Ordinal Encoding: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5852160" y="459028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Owner_Type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Pipeline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7-step leakage-free pipeline ensuring honest evaluation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56032" y="1325880"/>
            <a:ext cx="1115568" cy="256032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5" name="Shape 3"/>
          <p:cNvSpPr/>
          <p:nvPr/>
        </p:nvSpPr>
        <p:spPr>
          <a:xfrm>
            <a:off x="585216" y="1490472"/>
            <a:ext cx="457200" cy="457200"/>
          </a:xfrm>
          <a:prstGeom prst="ellipse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6" name="Text 4"/>
          <p:cNvSpPr/>
          <p:nvPr/>
        </p:nvSpPr>
        <p:spPr>
          <a:xfrm>
            <a:off x="585216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9184" y="2075688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 Handling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9184" y="2926080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Impute or drop records with null attributes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71600" y="2331720"/>
            <a:ext cx="109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1472184" y="1325880"/>
            <a:ext cx="1115568" cy="256032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1" name="Shape 9"/>
          <p:cNvSpPr/>
          <p:nvPr/>
        </p:nvSpPr>
        <p:spPr>
          <a:xfrm>
            <a:off x="1801368" y="1490472"/>
            <a:ext cx="457200" cy="457200"/>
          </a:xfrm>
          <a:prstGeom prst="ellipse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2" name="Text 10"/>
          <p:cNvSpPr/>
          <p:nvPr/>
        </p:nvSpPr>
        <p:spPr>
          <a:xfrm>
            <a:off x="1801368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45336" y="2075688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Transformation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545336" y="2926080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0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log to Price_USD to reduce skewness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587752" y="2331720"/>
            <a:ext cx="109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2688336" y="1325880"/>
            <a:ext cx="1115568" cy="256032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7" name="Shape 15"/>
          <p:cNvSpPr/>
          <p:nvPr/>
        </p:nvSpPr>
        <p:spPr>
          <a:xfrm>
            <a:off x="3017520" y="1490472"/>
            <a:ext cx="457200" cy="457200"/>
          </a:xfrm>
          <a:prstGeom prst="ellipse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8" name="Text 16"/>
          <p:cNvSpPr/>
          <p:nvPr/>
        </p:nvSpPr>
        <p:spPr>
          <a:xfrm>
            <a:off x="30175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61488" y="2075688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761488" y="2926080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VehicleAge and KM_per_Year features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803904" y="2331720"/>
            <a:ext cx="109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3904488" y="1325880"/>
            <a:ext cx="1115568" cy="256032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3" name="Shape 21"/>
          <p:cNvSpPr/>
          <p:nvPr/>
        </p:nvSpPr>
        <p:spPr>
          <a:xfrm>
            <a:off x="4233672" y="1490472"/>
            <a:ext cx="457200" cy="457200"/>
          </a:xfrm>
          <a:prstGeom prst="ellipse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4" name="Text 22"/>
          <p:cNvSpPr/>
          <p:nvPr/>
        </p:nvSpPr>
        <p:spPr>
          <a:xfrm>
            <a:off x="4233672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977640" y="2075688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 Clipping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977640" y="2926080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0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extreme price values to valid range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20056" y="2331720"/>
            <a:ext cx="109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5120640" y="1325880"/>
            <a:ext cx="1115568" cy="256032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9" name="Shape 27"/>
          <p:cNvSpPr/>
          <p:nvPr/>
        </p:nvSpPr>
        <p:spPr>
          <a:xfrm>
            <a:off x="5449824" y="1490472"/>
            <a:ext cx="457200" cy="457200"/>
          </a:xfrm>
          <a:prstGeom prst="ellipse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0" name="Text 28"/>
          <p:cNvSpPr/>
          <p:nvPr/>
        </p:nvSpPr>
        <p:spPr>
          <a:xfrm>
            <a:off x="5449824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93792" y="2075688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 Encoding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193792" y="2926080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One-hot + target + ordinal encoding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36208" y="2331720"/>
            <a:ext cx="109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6336792" y="1325880"/>
            <a:ext cx="1115568" cy="256032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5" name="Shape 33"/>
          <p:cNvSpPr/>
          <p:nvPr/>
        </p:nvSpPr>
        <p:spPr>
          <a:xfrm>
            <a:off x="6665976" y="1490472"/>
            <a:ext cx="457200" cy="457200"/>
          </a:xfrm>
          <a:prstGeom prst="ellipse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6" name="Text 34"/>
          <p:cNvSpPr/>
          <p:nvPr/>
        </p:nvSpPr>
        <p:spPr>
          <a:xfrm>
            <a:off x="6665976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409944" y="2075688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Scaling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409944" y="2926080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0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MinMax / Standard scaler (fit on train only)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452360" y="2331720"/>
            <a:ext cx="109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7552944" y="1325880"/>
            <a:ext cx="1115568" cy="256032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41" name="Shape 39"/>
          <p:cNvSpPr/>
          <p:nvPr/>
        </p:nvSpPr>
        <p:spPr>
          <a:xfrm>
            <a:off x="7882128" y="1490472"/>
            <a:ext cx="457200" cy="457200"/>
          </a:xfrm>
          <a:prstGeom prst="ellipse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42" name="Text 40"/>
          <p:cNvSpPr/>
          <p:nvPr/>
        </p:nvSpPr>
        <p:spPr>
          <a:xfrm>
            <a:off x="7882128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626096" y="2075688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Test Split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626096" y="2926080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 train · 15% validation — fixed seed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57200" y="4160520"/>
            <a:ext cx="8229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4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4297680"/>
            <a:ext cx="274320" cy="274320"/>
          </a:xfrm>
          <a:prstGeom prst="rect">
            <a:avLst/>
          </a:prstGeom>
        </p:spPr>
      </p:pic>
      <p:sp>
        <p:nvSpPr>
          <p:cNvPr id="47" name="Text 44"/>
          <p:cNvSpPr/>
          <p:nvPr/>
        </p:nvSpPr>
        <p:spPr>
          <a:xfrm>
            <a:off x="960120" y="42519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Leakage-free: all scalers and encoders are fit exclusively on training data, then applied to validation — ensuring honest performance metrics.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Architecture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connected feed-forward neural network built with Keras/TensorFlow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89888"/>
            <a:ext cx="3749040" cy="621792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Layer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7373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8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 + encoded categorical features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148840" y="2016252"/>
            <a:ext cx="3657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075688"/>
            <a:ext cx="3749040" cy="621792"/>
          </a:xfrm>
          <a:prstGeom prst="rect">
            <a:avLst/>
          </a:prstGeom>
          <a:solidFill>
            <a:srgbClr val="1B4E6B"/>
          </a:solidFill>
          <a:ln w="12700">
            <a:solidFill>
              <a:srgbClr val="1B4E6B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9" name="Text 7"/>
          <p:cNvSpPr/>
          <p:nvPr/>
        </p:nvSpPr>
        <p:spPr>
          <a:xfrm>
            <a:off x="594360" y="21488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 128  ReLU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24231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8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 15%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148840" y="2702052"/>
            <a:ext cx="3657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761488"/>
            <a:ext cx="3749040" cy="621792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3" name="Text 11"/>
          <p:cNvSpPr/>
          <p:nvPr/>
        </p:nvSpPr>
        <p:spPr>
          <a:xfrm>
            <a:off x="594360" y="28346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  64  ReLU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4360" y="31089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8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 10%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148840" y="3387852"/>
            <a:ext cx="3657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447288"/>
            <a:ext cx="3749040" cy="621792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7" name="Text 15"/>
          <p:cNvSpPr/>
          <p:nvPr/>
        </p:nvSpPr>
        <p:spPr>
          <a:xfrm>
            <a:off x="594360" y="3520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  32  ReLU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" y="37947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8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regularization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148840" y="4073652"/>
            <a:ext cx="3657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133088"/>
            <a:ext cx="3749040" cy="621792"/>
          </a:xfrm>
          <a:prstGeom prst="rect">
            <a:avLst/>
          </a:prstGeom>
          <a:solidFill>
            <a:srgbClr val="EE9B00"/>
          </a:solidFill>
          <a:ln w="12700">
            <a:solidFill>
              <a:srgbClr val="EE9B0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1" name="Text 19"/>
          <p:cNvSpPr/>
          <p:nvPr/>
        </p:nvSpPr>
        <p:spPr>
          <a:xfrm>
            <a:off x="594360" y="4206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Layer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94360" y="44805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neuron  —  Linear activation (log-price)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0" y="1389888"/>
            <a:ext cx="4069080" cy="475488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1728" y="1453896"/>
            <a:ext cx="329184" cy="329184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5102352" y="1453896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Configuration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72000" y="1956816"/>
            <a:ext cx="40690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7" name="Text 24"/>
          <p:cNvSpPr/>
          <p:nvPr/>
        </p:nvSpPr>
        <p:spPr>
          <a:xfrm>
            <a:off x="4681728" y="202996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355080" y="202996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0" y="2395728"/>
            <a:ext cx="4069080" cy="438912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0" name="Text 27"/>
          <p:cNvSpPr/>
          <p:nvPr/>
        </p:nvSpPr>
        <p:spPr>
          <a:xfrm>
            <a:off x="4681728" y="24688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Rate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355080" y="246888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0" y="2834640"/>
            <a:ext cx="40690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3" name="Text 30"/>
          <p:cNvSpPr/>
          <p:nvPr/>
        </p:nvSpPr>
        <p:spPr>
          <a:xfrm>
            <a:off x="4681728" y="2907792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Function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355080" y="29077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 (in log space)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0" y="3273552"/>
            <a:ext cx="4069080" cy="438912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6" name="Text 33"/>
          <p:cNvSpPr/>
          <p:nvPr/>
        </p:nvSpPr>
        <p:spPr>
          <a:xfrm>
            <a:off x="4681728" y="334670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Size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6355080" y="334670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4572000" y="3712464"/>
            <a:ext cx="40690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9" name="Text 36"/>
          <p:cNvSpPr/>
          <p:nvPr/>
        </p:nvSpPr>
        <p:spPr>
          <a:xfrm>
            <a:off x="4681728" y="378561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Epochs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6355080" y="378561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4572000" y="4151376"/>
            <a:ext cx="4069080" cy="438912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42" name="Text 39"/>
          <p:cNvSpPr/>
          <p:nvPr/>
        </p:nvSpPr>
        <p:spPr>
          <a:xfrm>
            <a:off x="4681728" y="422452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Split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6355080" y="42245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0" y="4590288"/>
            <a:ext cx="40690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45" name="Text 42"/>
          <p:cNvSpPr/>
          <p:nvPr/>
        </p:nvSpPr>
        <p:spPr>
          <a:xfrm>
            <a:off x="4681728" y="466344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Stopping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6355080" y="466344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Patience = 10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4572000" y="4946904"/>
            <a:ext cx="4069080" cy="0"/>
          </a:xfrm>
          <a:prstGeom prst="rect">
            <a:avLst/>
          </a:prstGeom>
          <a:noFill/>
          <a:ln/>
        </p:spPr>
        <p:txBody>
          <a:bodyPr/>
          <a:lstStyle/>
          <a:p>
            <a:endParaRPr lang="en-EG"/>
          </a:p>
        </p:txBody>
      </p:sp>
      <p:sp>
        <p:nvSpPr>
          <p:cNvPr id="48" name="Shape 45"/>
          <p:cNvSpPr/>
          <p:nvPr/>
        </p:nvSpPr>
        <p:spPr>
          <a:xfrm>
            <a:off x="4572000" y="5029200"/>
            <a:ext cx="4069080" cy="0"/>
          </a:xfrm>
          <a:prstGeom prst="rect">
            <a:avLst/>
          </a:prstGeom>
          <a:noFill/>
          <a:ln/>
        </p:spPr>
        <p:txBody>
          <a:bodyPr/>
          <a:lstStyle/>
          <a:p>
            <a:endParaRPr lang="en-EG"/>
          </a:p>
        </p:txBody>
      </p:sp>
      <p:sp>
        <p:nvSpPr>
          <p:cNvPr id="49" name="Text 46"/>
          <p:cNvSpPr/>
          <p:nvPr/>
        </p:nvSpPr>
        <p:spPr>
          <a:xfrm>
            <a:off x="4572000" y="4681728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Regularization:  Dropout  ·  ReLU activations  ·  Early Stopping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Web Application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Flask app connecting the trained Keras model to a browser UI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84048" y="1508760"/>
            <a:ext cx="1920240" cy="2103120"/>
          </a:xfrm>
          <a:prstGeom prst="rect">
            <a:avLst/>
          </a:prstGeom>
          <a:solidFill>
            <a:srgbClr val="1A3260"/>
          </a:solidFill>
          <a:ln w="635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169164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4048" y="233172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384048" y="274320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CarPrice_Live_Demo.html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Beautiful input form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331720" y="2377440"/>
            <a:ext cx="18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532888" y="1508760"/>
            <a:ext cx="1920240" cy="2103120"/>
          </a:xfrm>
          <a:prstGeom prst="rect">
            <a:avLst/>
          </a:prstGeom>
          <a:solidFill>
            <a:srgbClr val="1A3260"/>
          </a:solidFill>
          <a:ln w="635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6120" y="1691640"/>
            <a:ext cx="502920" cy="5029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532888" y="233172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Server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2532888" y="274320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app.py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/predict API endpoint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4480560" y="2377440"/>
            <a:ext cx="18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4681728" y="1508760"/>
            <a:ext cx="1920240" cy="2103120"/>
          </a:xfrm>
          <a:prstGeom prst="rect">
            <a:avLst/>
          </a:prstGeom>
          <a:solidFill>
            <a:srgbClr val="1A3260"/>
          </a:solidFill>
          <a:ln w="635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4960" y="1691640"/>
            <a:ext cx="502920" cy="5029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681728" y="233172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Keras Model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4681728" y="274320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.keras file loaded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server start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6629400" y="2377440"/>
            <a:ext cx="18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6830568" y="1508760"/>
            <a:ext cx="1920240" cy="2103120"/>
          </a:xfrm>
          <a:prstGeom prst="rect">
            <a:avLst/>
          </a:prstGeom>
          <a:solidFill>
            <a:srgbClr val="1A3260"/>
          </a:solidFill>
          <a:ln w="635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3800" y="1691640"/>
            <a:ext cx="502920" cy="5029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830568" y="233172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Output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6830568" y="274320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USD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estimation</a:t>
            </a:r>
            <a:endParaRPr lang="en-US" sz="1000" dirty="0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3840480"/>
            <a:ext cx="219456" cy="21945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777240" y="3822192"/>
            <a:ext cx="8092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form: brand, model, year, engine CC, power BHP, fuel type, transmission, owner type &amp; mileage</a:t>
            </a:r>
            <a:endParaRPr lang="en-US" sz="1150" dirty="0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133088"/>
            <a:ext cx="219456" cy="21945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777240" y="4114800"/>
            <a:ext cx="8092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Single-click 'Predict Price' → instant deep-learning inference via Flask /predict API</a:t>
            </a:r>
            <a:endParaRPr lang="en-US" sz="1150" dirty="0"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425696"/>
            <a:ext cx="219456" cy="219456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77240" y="4407408"/>
            <a:ext cx="8092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batch inference supported:  python srs/inference.py --csv path/to/new_cars.csv</a:t>
            </a:r>
            <a:endParaRPr lang="en-US" sz="1150" dirty="0"/>
          </a:p>
        </p:txBody>
      </p:sp>
      <p:pic>
        <p:nvPicPr>
          <p:cNvPr id="30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718304"/>
            <a:ext cx="219456" cy="219456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777240" y="4700016"/>
            <a:ext cx="8092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 guaranteed: fixed random seed · leakage-free preprocessing saved with model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2743200"/>
            <a:ext cx="4114800" cy="4114800"/>
          </a:xfrm>
          <a:prstGeom prst="ellipse">
            <a:avLst/>
          </a:prstGeom>
          <a:solidFill>
            <a:srgbClr val="0A9396">
              <a:alpha val="18000"/>
            </a:srgbClr>
          </a:solidFill>
          <a:ln w="12700">
            <a:solidFill>
              <a:srgbClr val="0A9396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" name="Shape 1"/>
          <p:cNvSpPr/>
          <p:nvPr/>
        </p:nvSpPr>
        <p:spPr>
          <a:xfrm>
            <a:off x="6858000" y="-914400"/>
            <a:ext cx="3200400" cy="3200400"/>
          </a:xfrm>
          <a:prstGeom prst="ellipse">
            <a:avLst/>
          </a:prstGeom>
          <a:solidFill>
            <a:srgbClr val="EE9B00">
              <a:alpha val="20000"/>
            </a:srgbClr>
          </a:solidFill>
          <a:ln w="12700">
            <a:solidFill>
              <a:srgbClr val="EE9B0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365760"/>
            <a:ext cx="1645920" cy="1645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000" b="1" dirty="0">
                <a:solidFill>
                  <a:srgbClr val="1A3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457200" y="2240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4000" dirty="0"/>
          </a:p>
        </p:txBody>
      </p:sp>
      <p:sp>
        <p:nvSpPr>
          <p:cNvPr id="7" name="Shape 4"/>
          <p:cNvSpPr/>
          <p:nvPr/>
        </p:nvSpPr>
        <p:spPr>
          <a:xfrm>
            <a:off x="3200400" y="3154680"/>
            <a:ext cx="2743200" cy="54864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8" name="Text 5"/>
          <p:cNvSpPr/>
          <p:nvPr/>
        </p:nvSpPr>
        <p:spPr>
          <a:xfrm>
            <a:off x="457200" y="33375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 ·  Feature Importance  ·  Error Analysis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on held-out test set — strong generalisation with minimal overfitting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92608" y="1234440"/>
            <a:ext cx="1572768" cy="173736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5" name="Text 3"/>
          <p:cNvSpPr/>
          <p:nvPr/>
        </p:nvSpPr>
        <p:spPr>
          <a:xfrm>
            <a:off x="292608" y="1325880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Score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92608" y="1691640"/>
            <a:ext cx="157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0.9899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92608" y="3035808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99% of price variance explained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002536" y="1234440"/>
            <a:ext cx="1572768" cy="173736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9" name="Text 7"/>
          <p:cNvSpPr/>
          <p:nvPr/>
        </p:nvSpPr>
        <p:spPr>
          <a:xfrm>
            <a:off x="2002536" y="1325880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002536" y="1691640"/>
            <a:ext cx="157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$1,109.73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002536" y="3035808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Mean Squared Error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712464" y="1234440"/>
            <a:ext cx="1572768" cy="1737360"/>
          </a:xfrm>
          <a:prstGeom prst="rect">
            <a:avLst/>
          </a:prstGeom>
          <a:solidFill>
            <a:srgbClr val="1B7A4A"/>
          </a:solidFill>
          <a:ln w="12700">
            <a:solidFill>
              <a:srgbClr val="1B7A4A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3" name="Text 11"/>
          <p:cNvSpPr/>
          <p:nvPr/>
        </p:nvSpPr>
        <p:spPr>
          <a:xfrm>
            <a:off x="3712464" y="1325880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712464" y="1691640"/>
            <a:ext cx="157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$651.32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712464" y="3035808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Absolute Error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422392" y="1234440"/>
            <a:ext cx="1572768" cy="1737360"/>
          </a:xfrm>
          <a:prstGeom prst="rect">
            <a:avLst/>
          </a:prstGeom>
          <a:solidFill>
            <a:srgbClr val="7B3FA0"/>
          </a:solidFill>
          <a:ln w="12700">
            <a:solidFill>
              <a:srgbClr val="7B3FA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7" name="Text 15"/>
          <p:cNvSpPr/>
          <p:nvPr/>
        </p:nvSpPr>
        <p:spPr>
          <a:xfrm>
            <a:off x="5422392" y="1325880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22392" y="1691640"/>
            <a:ext cx="157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5.75%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422392" y="3035808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Absolute Percentage Error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132320" y="1234440"/>
            <a:ext cx="1572768" cy="1737360"/>
          </a:xfrm>
          <a:prstGeom prst="rect">
            <a:avLst/>
          </a:prstGeom>
          <a:solidFill>
            <a:srgbClr val="B54708"/>
          </a:solidFill>
          <a:ln w="12700">
            <a:solidFill>
              <a:srgbClr val="B54708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1" name="Text 19"/>
          <p:cNvSpPr/>
          <p:nvPr/>
        </p:nvSpPr>
        <p:spPr>
          <a:xfrm>
            <a:off x="7132320" y="1325880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NRMSE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0" y="1691640"/>
            <a:ext cx="157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0.0157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132320" y="3035808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Normalised RMSE (very low)</a:t>
            </a:r>
            <a:endParaRPr lang="en-US" sz="950" dirty="0"/>
          </a:p>
        </p:txBody>
      </p:sp>
      <p:graphicFrame>
        <p:nvGraphicFramePr>
          <p:cNvPr id="24" name="Chart 0"/>
          <p:cNvGraphicFramePr/>
          <p:nvPr/>
        </p:nvGraphicFramePr>
        <p:xfrm>
          <a:off x="457200" y="3493008"/>
          <a:ext cx="8229600" cy="1463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Permutation importance (drop in R²)  —  Vehicle Age &amp; Model are the dominant predictors</a:t>
            </a:r>
            <a:endParaRPr lang="en-US" sz="14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024128"/>
          <a:ext cx="5303520" cy="3886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6035040" y="1325880"/>
            <a:ext cx="2651760" cy="4572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6" name="Text 3"/>
          <p:cNvSpPr/>
          <p:nvPr/>
        </p:nvSpPr>
        <p:spPr>
          <a:xfrm>
            <a:off x="6035040" y="1325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035040" y="1892808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8" name="Shape 5"/>
          <p:cNvSpPr/>
          <p:nvPr/>
        </p:nvSpPr>
        <p:spPr>
          <a:xfrm>
            <a:off x="6035040" y="1892808"/>
            <a:ext cx="54864" cy="566928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9" name="Text 6"/>
          <p:cNvSpPr/>
          <p:nvPr/>
        </p:nvSpPr>
        <p:spPr>
          <a:xfrm>
            <a:off x="6163056" y="1929384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Age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163056" y="2148840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 predictor — R² drops 0.58 when removed. Older cars depreciate significantly.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6035040" y="2514600"/>
            <a:ext cx="2651760" cy="56692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2" name="Shape 9"/>
          <p:cNvSpPr/>
          <p:nvPr/>
        </p:nvSpPr>
        <p:spPr>
          <a:xfrm>
            <a:off x="6035040" y="2514600"/>
            <a:ext cx="54864" cy="566928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3" name="Text 10"/>
          <p:cNvSpPr/>
          <p:nvPr/>
        </p:nvSpPr>
        <p:spPr>
          <a:xfrm>
            <a:off x="6163056" y="2551176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163056" y="2770632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Target-encoded model captures brand prestige and model-specific market value.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035040" y="3136392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6" name="Shape 13"/>
          <p:cNvSpPr/>
          <p:nvPr/>
        </p:nvSpPr>
        <p:spPr>
          <a:xfrm>
            <a:off x="6035040" y="3136392"/>
            <a:ext cx="54864" cy="566928"/>
          </a:xfrm>
          <a:prstGeom prst="rect">
            <a:avLst/>
          </a:prstGeom>
          <a:solidFill>
            <a:srgbClr val="0D7A5A"/>
          </a:solidFill>
          <a:ln w="12700">
            <a:solidFill>
              <a:srgbClr val="0D7A5A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7" name="Text 14"/>
          <p:cNvSpPr/>
          <p:nvPr/>
        </p:nvSpPr>
        <p:spPr>
          <a:xfrm>
            <a:off x="6163056" y="3172968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 Driven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163056" y="3392424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mileage is the 3rd strongest signal, reflecting wear and remaining lifespan.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6035040" y="3758184"/>
            <a:ext cx="2651760" cy="56692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0" name="Shape 17"/>
          <p:cNvSpPr/>
          <p:nvPr/>
        </p:nvSpPr>
        <p:spPr>
          <a:xfrm>
            <a:off x="6035040" y="3758184"/>
            <a:ext cx="54864" cy="56692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1" name="Text 18"/>
          <p:cNvSpPr/>
          <p:nvPr/>
        </p:nvSpPr>
        <p:spPr>
          <a:xfrm>
            <a:off x="6163056" y="3794760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Type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163056" y="401421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previous owners affects perceived vehicle condition and trust.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6035040" y="4379976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4" name="Shape 21"/>
          <p:cNvSpPr/>
          <p:nvPr/>
        </p:nvSpPr>
        <p:spPr>
          <a:xfrm>
            <a:off x="6035040" y="4379976"/>
            <a:ext cx="54864" cy="56692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5" name="Text 22"/>
          <p:cNvSpPr/>
          <p:nvPr/>
        </p:nvSpPr>
        <p:spPr>
          <a:xfrm>
            <a:off x="6163056" y="4416552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Dummies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163056" y="463600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Hyundai, Kia, Ford, Mercedes each contribute modestly; electric fuel type is a growing signal.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&amp; Bias–Variance Analysis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where the model excels and where it struggles</a:t>
            </a:r>
            <a:endParaRPr lang="en-US" sz="14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005840"/>
          <a:ext cx="475488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5440680" y="1005840"/>
            <a:ext cx="32918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6" name="Shape 3"/>
          <p:cNvSpPr/>
          <p:nvPr/>
        </p:nvSpPr>
        <p:spPr>
          <a:xfrm>
            <a:off x="5440680" y="1005840"/>
            <a:ext cx="64008" cy="100584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9552" y="1353312"/>
            <a:ext cx="274320" cy="274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943600" y="107899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Bias–Variance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5943600" y="1426464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gap between training and test performance confirms excellent generalisation with minimal overfitting. The model is well-balanced.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440680" y="2148840"/>
            <a:ext cx="32918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1" name="Shape 7"/>
          <p:cNvSpPr/>
          <p:nvPr/>
        </p:nvSpPr>
        <p:spPr>
          <a:xfrm>
            <a:off x="5440680" y="2148840"/>
            <a:ext cx="64008" cy="1005840"/>
          </a:xfrm>
          <a:prstGeom prst="rect">
            <a:avLst/>
          </a:prstGeom>
          <a:solidFill>
            <a:srgbClr val="EE9B00"/>
          </a:solidFill>
          <a:ln w="12700">
            <a:solidFill>
              <a:srgbClr val="EE9B0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9552" y="2496312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943600" y="222199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Patterns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5943600" y="2569464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Slightly higher error observed for luxury vehicles. Increased variance in the high-price segment (&gt;$50K). Limited coverage of rare models.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5440680" y="3291840"/>
            <a:ext cx="32918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6" name="Shape 11"/>
          <p:cNvSpPr/>
          <p:nvPr/>
        </p:nvSpPr>
        <p:spPr>
          <a:xfrm>
            <a:off x="5440680" y="3291840"/>
            <a:ext cx="64008" cy="1005840"/>
          </a:xfrm>
          <a:prstGeom prst="rect">
            <a:avLst/>
          </a:prstGeom>
          <a:solidFill>
            <a:srgbClr val="7B3FA0"/>
          </a:solidFill>
          <a:ln w="12700">
            <a:solidFill>
              <a:srgbClr val="7B3FA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59552" y="3639312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943600" y="336499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Distribution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5943600" y="3712464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Residuals are approximately normally distributed and centred near zero — confirming the model captures the main pricing signal.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1" name="Text 15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average the model predicts within  5.75% MAPE  of the actual price — reliable enough for real-world pricing decisions.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 &amp; Future Work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worked, what we'd do differently, and where we go next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77640" cy="45720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481328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05840" y="1481328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Worked Well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920240"/>
            <a:ext cx="397764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84248"/>
            <a:ext cx="228600" cy="228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14400" y="1938528"/>
            <a:ext cx="3401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(15%/10%) significantly reduced overfitting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57200" y="2441448"/>
            <a:ext cx="3977640" cy="47548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505456"/>
            <a:ext cx="228600" cy="2286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14400" y="2459736"/>
            <a:ext cx="3401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Log-space MSE loss stabilised optimisation of skewed prices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457200" y="2962656"/>
            <a:ext cx="397764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026664"/>
            <a:ext cx="228600" cy="2286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14400" y="2980944"/>
            <a:ext cx="3401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encoding for Model preserved price signal without explosion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457200" y="3483864"/>
            <a:ext cx="3977640" cy="47548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547872"/>
            <a:ext cx="228600" cy="2286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914400" y="3502152"/>
            <a:ext cx="3401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Leakage-free pipeline ensured honest evaluation metrics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4663440" y="1417320"/>
            <a:ext cx="3977640" cy="457200"/>
          </a:xfrm>
          <a:prstGeom prst="rect">
            <a:avLst/>
          </a:prstGeom>
          <a:solidFill>
            <a:srgbClr val="EE9B00"/>
          </a:solidFill>
          <a:ln w="12700">
            <a:solidFill>
              <a:srgbClr val="EE9B0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1481328"/>
            <a:ext cx="320040" cy="32004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5212080" y="1481328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Faced</a:t>
            </a:r>
            <a:endParaRPr lang="en-US" sz="1300" dirty="0"/>
          </a:p>
        </p:txBody>
      </p:sp>
      <p:sp>
        <p:nvSpPr>
          <p:cNvPr id="22" name="Shape 14"/>
          <p:cNvSpPr/>
          <p:nvPr/>
        </p:nvSpPr>
        <p:spPr>
          <a:xfrm>
            <a:off x="4663440" y="1920240"/>
            <a:ext cx="397764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1984248"/>
            <a:ext cx="228600" cy="22860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5120640" y="1938528"/>
            <a:ext cx="3401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dataset (~3K records) constrained model capacity</a:t>
            </a:r>
            <a:endParaRPr lang="en-US" sz="1100" dirty="0"/>
          </a:p>
        </p:txBody>
      </p:sp>
      <p:sp>
        <p:nvSpPr>
          <p:cNvPr id="25" name="Shape 16"/>
          <p:cNvSpPr/>
          <p:nvPr/>
        </p:nvSpPr>
        <p:spPr>
          <a:xfrm>
            <a:off x="4663440" y="2441448"/>
            <a:ext cx="3977640" cy="47548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2505456"/>
            <a:ext cx="228600" cy="228600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5120640" y="2459736"/>
            <a:ext cx="3401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High-cardinality brand/model features required careful encoding</a:t>
            </a:r>
            <a:endParaRPr lang="en-US" sz="1100" dirty="0"/>
          </a:p>
        </p:txBody>
      </p:sp>
      <p:sp>
        <p:nvSpPr>
          <p:cNvPr id="28" name="Shape 18"/>
          <p:cNvSpPr/>
          <p:nvPr/>
        </p:nvSpPr>
        <p:spPr>
          <a:xfrm>
            <a:off x="4663440" y="2962656"/>
            <a:ext cx="397764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29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3026664"/>
            <a:ext cx="228600" cy="228600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5120640" y="2980944"/>
            <a:ext cx="3401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 luxury prices increased variance in high-price segment</a:t>
            </a:r>
            <a:endParaRPr lang="en-US" sz="1100" dirty="0"/>
          </a:p>
        </p:txBody>
      </p:sp>
      <p:sp>
        <p:nvSpPr>
          <p:cNvPr id="31" name="Shape 20"/>
          <p:cNvSpPr/>
          <p:nvPr/>
        </p:nvSpPr>
        <p:spPr>
          <a:xfrm>
            <a:off x="4663440" y="3483864"/>
            <a:ext cx="3977640" cy="47548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32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3547872"/>
            <a:ext cx="228600" cy="228600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5120640" y="3502152"/>
            <a:ext cx="3401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tuning was time-intensive without an automated scheduler</a:t>
            </a:r>
            <a:endParaRPr lang="en-US" sz="1100" dirty="0"/>
          </a:p>
        </p:txBody>
      </p:sp>
      <p:sp>
        <p:nvSpPr>
          <p:cNvPr id="34" name="Shape 22"/>
          <p:cNvSpPr/>
          <p:nvPr/>
        </p:nvSpPr>
        <p:spPr>
          <a:xfrm>
            <a:off x="457200" y="4160520"/>
            <a:ext cx="8229600" cy="438912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5" name="Text 23"/>
          <p:cNvSpPr/>
          <p:nvPr/>
        </p:nvSpPr>
        <p:spPr>
          <a:xfrm>
            <a:off x="566928" y="416052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</a:t>
            </a:r>
            <a:endParaRPr lang="en-US" sz="1100" dirty="0"/>
          </a:p>
        </p:txBody>
      </p:sp>
      <p:sp>
        <p:nvSpPr>
          <p:cNvPr id="36" name="Text 24"/>
          <p:cNvSpPr/>
          <p:nvPr/>
        </p:nvSpPr>
        <p:spPr>
          <a:xfrm>
            <a:off x="1664208" y="4160520"/>
            <a:ext cx="6903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vs XGBoost &amp; LightGBM   ·   Explore Transformer-based tabular models   ·   Add uncertainty estimation   ·   Deploy via FastAPI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2743200"/>
            <a:ext cx="4114800" cy="4114800"/>
          </a:xfrm>
          <a:prstGeom prst="ellipse">
            <a:avLst/>
          </a:prstGeom>
          <a:solidFill>
            <a:srgbClr val="0A9396">
              <a:alpha val="18000"/>
            </a:srgbClr>
          </a:solidFill>
          <a:ln w="12700">
            <a:solidFill>
              <a:srgbClr val="0A9396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" name="Shape 1"/>
          <p:cNvSpPr/>
          <p:nvPr/>
        </p:nvSpPr>
        <p:spPr>
          <a:xfrm>
            <a:off x="6858000" y="-1097280"/>
            <a:ext cx="3474720" cy="3474720"/>
          </a:xfrm>
          <a:prstGeom prst="ellipse">
            <a:avLst/>
          </a:prstGeom>
          <a:solidFill>
            <a:srgbClr val="EE9B00">
              <a:alpha val="20000"/>
            </a:srgbClr>
          </a:solidFill>
          <a:ln w="12700">
            <a:solidFill>
              <a:srgbClr val="EE9B0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2232" y="228600"/>
            <a:ext cx="868680" cy="868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07899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6" name="Shape 3"/>
          <p:cNvSpPr/>
          <p:nvPr/>
        </p:nvSpPr>
        <p:spPr>
          <a:xfrm>
            <a:off x="3383280" y="2084832"/>
            <a:ext cx="2377440" cy="54864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7" name="Text 4"/>
          <p:cNvSpPr/>
          <p:nvPr/>
        </p:nvSpPr>
        <p:spPr>
          <a:xfrm>
            <a:off x="457200" y="224028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0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980944"/>
            <a:ext cx="347472" cy="347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" y="290779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Value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978408" y="327355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Transparent, data-driven pricing for buyers, sellers &amp; platforms</a:t>
            </a:r>
            <a:endParaRPr lang="en-US" sz="11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4142232"/>
            <a:ext cx="347472" cy="34747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78408" y="40690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Solution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978408" y="44348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4-layer DNN + Flask app + CLI inference · Keras / TensorFlow</a:t>
            </a:r>
            <a:endParaRPr lang="en-US" sz="11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0600" y="2980944"/>
            <a:ext cx="347472" cy="34747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276088" y="290779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5276088" y="327355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0.9899  ·  MAE = $651.32  ·  MAPE = 5.75%</a:t>
            </a:r>
            <a:endParaRPr lang="en-US" sz="110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4142232"/>
            <a:ext cx="347472" cy="347472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276088" y="40690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</a:t>
            </a:r>
            <a:endParaRPr lang="en-US" sz="1300" dirty="0"/>
          </a:p>
        </p:txBody>
      </p:sp>
      <p:sp>
        <p:nvSpPr>
          <p:cNvPr id="19" name="Text 12"/>
          <p:cNvSpPr/>
          <p:nvPr/>
        </p:nvSpPr>
        <p:spPr>
          <a:xfrm>
            <a:off x="5276088" y="44348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Log-space loss + Dropout + leakage-free pipeline = robust model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1226</Words>
  <Application>Microsoft Macintosh PowerPoint</Application>
  <PresentationFormat>On-screen Show (16:9)</PresentationFormat>
  <Paragraphs>268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 Price Prediction Using Deep Learning</dc:title>
  <dc:subject>PptxGenJS Presentation</dc:subject>
  <dc:creator>PptxGenJS</dc:creator>
  <cp:lastModifiedBy>jana elsalhy</cp:lastModifiedBy>
  <cp:revision>2</cp:revision>
  <dcterms:created xsi:type="dcterms:W3CDTF">2026-05-13T19:54:06Z</dcterms:created>
  <dcterms:modified xsi:type="dcterms:W3CDTF">2026-05-13T20:01:10Z</dcterms:modified>
</cp:coreProperties>
</file>